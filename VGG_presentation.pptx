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9" r:id="rId3"/>
    <p:sldId id="266" r:id="rId4"/>
    <p:sldId id="260" r:id="rId5"/>
    <p:sldId id="275" r:id="rId6"/>
    <p:sldId id="268" r:id="rId7"/>
    <p:sldId id="264" r:id="rId8"/>
    <p:sldId id="271" r:id="rId9"/>
    <p:sldId id="273" r:id="rId10"/>
    <p:sldId id="261" r:id="rId11"/>
    <p:sldId id="262" r:id="rId12"/>
    <p:sldId id="263" r:id="rId13"/>
    <p:sldId id="278" r:id="rId14"/>
    <p:sldId id="276" r:id="rId15"/>
    <p:sldId id="277" r:id="rId16"/>
  </p:sldIdLst>
  <p:sldSz cx="9144000" cy="5143500" type="screen16x9"/>
  <p:notesSz cx="5143500" cy="9144000"/>
  <p:embeddedFontLst>
    <p:embeddedFont>
      <p:font typeface="Alexandria Semi Bold" panose="020B0604020202020204" charset="-78"/>
      <p:regular r:id="rId18"/>
    </p:embeddedFont>
    <p:embeddedFont>
      <p:font typeface="Host Grotesk Medium" panose="020B0604020202020204" charset="0"/>
      <p:regular r:id="rId19"/>
    </p:embeddedFont>
    <p:embeddedFont>
      <p:font typeface="Lato" panose="020F0502020204030203" pitchFamily="34" charset="0"/>
      <p:regular r:id="rId20"/>
      <p:bold r:id="rId21"/>
      <p:italic r:id="rId22"/>
    </p:embeddedFont>
    <p:embeddedFont>
      <p:font typeface="Poppins" panose="00000500000000000000" pitchFamily="2" charset="0"/>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Sora Light"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B4DF"/>
    <a:srgbClr val="FFFAFA"/>
    <a:srgbClr val="4472C4"/>
    <a:srgbClr val="E9EBF5"/>
    <a:srgbClr val="C9EEFE"/>
    <a:srgbClr val="D9EDF2"/>
    <a:srgbClr val="F4F6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7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198"/>
    </inkml:context>
    <inkml:brush xml:id="br0">
      <inkml:brushProperty name="width" value="0.1" units="cm"/>
      <inkml:brushProperty name="height" value="0.1" units="cm"/>
      <inkml:brushProperty name="color" value="#FFFFFF"/>
    </inkml:brush>
  </inkml:definitions>
  <inkml:trace contextRef="#ctx0" brushRef="#br0">0 1 24575,'0'645'-1365,"0"-627"-5461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199"/>
    </inkml:context>
    <inkml:brush xml:id="br0">
      <inkml:brushProperty name="width" value="0.1" units="cm"/>
      <inkml:brushProperty name="height" value="0.1" units="cm"/>
      <inkml:brushProperty name="color" value="#FFFFFF"/>
    </inkml:brush>
  </inkml:definitions>
  <inkml:trace contextRef="#ctx0" brushRef="#br0">229 664 24575,'1'-9'0,"-1"0"0,-1 0 0,0 0 0,0 0 0,-1 0 0,0 0 0,0 0 0,-1 0 0,0 1 0,-8-15 0,11 23 0,0 0 0,0-1 0,0 1 0,0 0 0,-1 0 0,1-1 0,0 1 0,0 0 0,0 0 0,-1-1 0,1 1 0,0 0 0,-1 0 0,1 0 0,0-1 0,0 1 0,-1 0 0,1 0 0,0 0 0,-1 0 0,1 0 0,0 0 0,-1 0 0,1 0 0,0 0 0,-1-1 0,1 2 0,0-1 0,-1 0 0,1 0 0,0 0 0,-1 0 0,1 0 0,0 0 0,-1 0 0,1 0 0,0 0 0,-1 0 0,1 1 0,0-1 0,0 0 0,-1 0 0,1 0 0,0 1 0,0-1 0,-1 0 0,1 0 0,0 1 0,0-1 0,0 0 0,-1 1 0,1-1 0,0 0 0,0 0 0,0 1 0,0-1 0,0 0 0,0 1 0,0 0 0,-10 25 0,8-20 0,-6 19 0,1 0 0,1 0 0,1 0 0,1 1 0,2-1 0,0 28 0,1-29 0,-2 0 0,-5 28 0,0-7 0,2-15 0,-2 0 0,-1-1 0,-1-1 0,-21 43 0,14-36 0,-21 72 0,34-90 0,5-24 0,7-28 0,16-105 0,34-164 0,-47 256 0,-2 0 0,-2 0 0,-3 0 0,-1-80 0,-5-207 63,2 211-1491,0 106-5398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0"/>
    </inkml:context>
    <inkml:brush xml:id="br0">
      <inkml:brushProperty name="width" value="0.1" units="cm"/>
      <inkml:brushProperty name="height" value="0.1" units="cm"/>
      <inkml:brushProperty name="color" value="#FFFFFF"/>
    </inkml:brush>
  </inkml:definitions>
  <inkml:trace contextRef="#ctx0" brushRef="#br0">1 231 24575,'0'-231'0,"0"259"0,6 43 0,-5-62 0,0-1 0,1 0 0,0 1 0,1-1 0,0 0 0,0 0 0,1 0 0,0-1 0,8 12 0,-10-17 0,0 0 0,-1 0 0,1 0 0,1 0 0,-1-1 0,0 1 0,0-1 0,1 1 0,-1-1 0,0 0 0,1 0 0,-1 0 0,1 0 0,0-1 0,-1 1 0,1-1 0,0 1 0,-1-1 0,1 0 0,0 0 0,-1 0 0,1 0 0,0-1 0,3 0 0,-3 0 0,0 1 0,0-1 0,0-1 0,0 1 0,0 0 0,0-1 0,0 1 0,0-1 0,-1 0 0,1 0 0,0 0 0,-1-1 0,0 1 0,1 0 0,-1-1 0,0 0 0,0 1 0,-1-1 0,3-4 0,0-6 0,-1 0 0,-1 0 0,0-1 0,0 0 0,-1 1 0,-1-1 0,-1 1 0,-2-18 0,2 8 0,-28 97 0,24-60 0,3-9 0,0 1 0,0-1 0,0 0 0,-1 0 0,1 0 0,-1 0 0,-6 6 0,10-11 0,-1 0 0,0 1 0,1-1 0,-1 0 0,1 0 0,-1 1 0,0-1 0,1 0 0,-1 0 0,1 1 0,-1-1 0,0 0 0,0 1 0,1-1 0,-1 1 0,0-1 0,0 0 0,1 1 0,-1-1 0,0 1 0,0-1 0,0 1 0,0-1 0,1 0 0,-1 1 0,0-1 0,0 1 0,0 0 0,4 16 0,0 21 0,-4-30 0,0 0 0,1 0 0,0 1 0,1-1 0,0 0 0,3 8 0,-4-13 0,0-1 0,1 1 0,-1-1 0,1 1 0,0-1 0,0 0 0,0 0 0,0 0 0,0 0 0,0 0 0,0 0 0,1-1 0,-1 1 0,1-1 0,-1 1 0,1-1 0,0 0 0,-1 0 0,1 0 0,0-1 0,0 1 0,3 0 0,-4-1 0,0 1 0,0-1 0,0 0 0,0 0 0,0 0 0,0 0 0,0 0 0,1 0 0,-1 0 0,0-1 0,0 1 0,0-1 0,0 1 0,0-1 0,0 0 0,0 0 0,0 0 0,-1 0 0,1 0 0,0 0 0,0-1 0,-1 1 0,1-1 0,-1 1 0,1-1 0,-1 1 0,0-1 0,0 0 0,1 0 0,-1 1 0,0-1 0,-1 0 0,1 0 0,0 0 0,-1 0 0,1 0 0,-1 0 0,1-3 0,1-10 0,0 0 0,-2 0 0,0 0 0,-2-22 0,0 12 0,1 12 0,1 27 0,0 36 0,0-46 0,0 171 0,0-179-40,0 1 0,-1-1 0,1 0 0,-1 1-1,0-1 1,1 0 0,-2 1 0,1-1 0,0 1 0,-1 0 0,1-1-1,-1 1 1,0 0 0,0 0 0,-1 0 0,1 0 0,0 0-1,-1 1 1,0-1 0,0 1 0,0 0 0,0-1 0,0 1 0,0 1-1,0-1 1,-1 0 0,1 1 0,0 0 0,-1-1 0,0 1-1,1 1 1,-1-1 0,-6 0 0,-7 0-6786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1"/>
    </inkml:context>
    <inkml:brush xml:id="br0">
      <inkml:brushProperty name="width" value="0.1" units="cm"/>
      <inkml:brushProperty name="height" value="0.1" units="cm"/>
      <inkml:brushProperty name="color" value="#FFFFFF"/>
    </inkml:brush>
  </inkml:definitions>
  <inkml:trace contextRef="#ctx0" brushRef="#br0">1 1 24575,'3'0'0,"5"0"0,5 0 0,3 0 0,3 0 0,2 0 0,0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2"/>
    </inkml:context>
    <inkml:brush xml:id="br0">
      <inkml:brushProperty name="width" value="0.1" units="cm"/>
      <inkml:brushProperty name="height" value="0.1" units="cm"/>
      <inkml:brushProperty name="color" value="#FFFFFF"/>
    </inkml:brush>
  </inkml:definitions>
  <inkml:trace contextRef="#ctx0" brushRef="#br0">66 20 24575,'-1'88'0,"3"95"0,-1-175 0,0 1 0,1-1 0,4 14 0,-6-21 0,1 1 0,-1-1 0,1 1 0,-1-1 0,1 0 0,-1 1 0,1-1 0,0 0 0,0 1 0,0-1 0,-1 0 0,1 0 0,1 0 0,-1 0 0,0 0 0,0 0 0,0 0 0,0 0 0,1 0 0,-1 0 0,0-1 0,1 1 0,-1-1 0,0 1 0,1-1 0,-1 1 0,3-1 0,-3 0 0,0-1 0,1 1 0,-1-1 0,0 1 0,0-1 0,0 0 0,0 1 0,0-1 0,0 0 0,0 0 0,-1 0 0,1 0 0,0 0 0,0 0 0,-1 0 0,1 0 0,-1 0 0,1 0 0,-1 0 0,1 0 0,0-2 0,9-31 0,-7 25 0,6-38 0,-8 81 0,0-26 0,-1 1 0,1-1 0,-1 1 0,-1-1 0,0 0 0,-3 14 0,4-22 0,0 0 0,0 0 0,0-1 0,0 1 0,0 0 0,0 0 0,0 0 0,0-1 0,0 1 0,-1 0 0,1 0 0,0 0 0,0 0 0,0 0 0,0-1 0,0 1 0,-1 0 0,1 0 0,0 0 0,0 0 0,0 0 0,-1 0 0,1 0 0,0 0 0,0-1 0,0 1 0,-1 0 0,1 0 0,0 0 0,0 0 0,0 0 0,-1 0 0,1 0 0,0 0 0,0 0 0,0 0 0,-1 1 0,1-1 0,0 0 0,0 0 0,0 0 0,-1 0 0,1 0 0,0 0 0,0 0 0,0 0 0,0 0 0,-1 1 0,1-1 0,0 0 0,0 0 0,0 0 0,0 0 0,0 1 0,0-1 0,-1 0 0,1 0 0,0 0 0,0 1 0,-5-22 0,4 18 0,-5-22 0,-2 1 0,0-1 0,-2 2 0,0-1 0,-2 1 0,-19-29 0,26 43 45,1 0 1,0 0-1,1 0 0,0 0 0,0 0 0,-2-18 0,2 14-605,0 0-1,-8-22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3"/>
    </inkml:context>
    <inkml:brush xml:id="br0">
      <inkml:brushProperty name="width" value="0.1" units="cm"/>
      <inkml:brushProperty name="height" value="0.1" units="cm"/>
      <inkml:brushProperty name="color" value="#FFFFFF"/>
    </inkml:brush>
  </inkml:definitions>
  <inkml:trace contextRef="#ctx0" brushRef="#br0">24 17 24575,'0'114'0,"-1"-114"0,1 0 0,0 0 0,0 0 0,0 0 0,0 0 0,0 0 0,0 0 0,0 0 0,0 0 0,0 0 0,-1 0 0,1 0 0,0 0 0,0 0 0,0 0 0,0 0 0,0 0 0,0 0 0,0 0 0,0 0 0,0 0 0,-1 0 0,1 0 0,0 0 0,0 0 0,0 0 0,0 0 0,0 0 0,0 0 0,0 0 0,0 0 0,0 0 0,0 1 0,0-1 0,0 0 0,0 0 0,-1 0 0,1 0 0,0 0 0,0 0 0,0 0 0,0 0 0,0 0 0,0 0 0,0 1 0,0-1 0,0 0 0,0 0 0,0 0 0,0 0 0,0 0 0,0 0 0,0 0 0,0 0 0,0 0 0,0 1 0,0-1 0,0 0 0,0 0 0,0 0 0,1 0 0,-1 0 0,0 0 0,0 0 0,0 0 0,0 0 0,0 0 0,0 0 0,0 1 0,-5-10 0,-4-15 0,6 10 0,2 1 0,-1-1 0,1 1 0,1-1 0,2-15 0,-2 29 0,0-1 0,0 1 0,0 0 0,0 0 0,0 0 0,0 0 0,0 0 0,0 0 0,0-1 0,0 1 0,0 0 0,0 0 0,0 0 0,0 0 0,0 0 0,0-1 0,0 1 0,0 0 0,0 0 0,0 0 0,0 0 0,0 0 0,0 0 0,0 0 0,0-1 0,0 1 0,0 0 0,1 0 0,-1 0 0,0 0 0,0 0 0,0 0 0,0 0 0,0 0 0,0 0 0,0 0 0,1-1 0,-1 1 0,0 0 0,0 0 0,0 0 0,0 0 0,0 0 0,0 0 0,1 0 0,-1 0 0,0 0 0,0 0 0,0 0 0,0 0 0,0 0 0,1 0 0,-1 0 0,5 9 0,3 13 0,-5 24 0,-3-35 0,1 0 0,0-1 0,3 16 0,-3-25 13,-1 0-61,0-1 1,0 1-1,0-1 1,0 1-1,0-1 1,0 1-1,0-1 1,0 1-1,1-1 1,-1 0-1,0 1 1,0-1-1,0 1 1,1-1-1,-1 1 1,0-1-1,1 0 1,-1 1-1,0-1 1,1 0-1,-1 1 1,1-1-1,-1 0 1,0 0-1,1 1 1,-1-1-1,1 0 0,0 0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4"/>
    </inkml:context>
    <inkml:brush xml:id="br0">
      <inkml:brushProperty name="width" value="0.1" units="cm"/>
      <inkml:brushProperty name="height" value="0.1" units="cm"/>
      <inkml:brushProperty name="color" value="#FFFFFF"/>
    </inkml:brush>
  </inkml:definitions>
  <inkml:trace contextRef="#ctx0" brushRef="#br0">60 1 24575,'-1'68'0,"2"77"0,10-79 0,-7-46 0,2 37 0,-6 12 0,0-392 0,0 318 0,0 2 0,1 0 0,-1 1 0,0-1 0,0 1 0,-1-1 0,1 1 0,0-1 0,-1 1 0,0-1 0,1 1 0,-1 0 0,0-1 0,0 1 0,-2-4 0,2 6 0,1 0 0,-1 1 0,1-1 0,-1 0 0,1 0 0,0 1 0,-1-1 0,1 0 0,-1 0 0,1 1 0,0-1 0,-1 0 0,1 1 0,0-1 0,-1 1 0,1-1 0,0 0 0,0 1 0,0-1 0,-1 1 0,1-1 0,0 1 0,0-1 0,0 0 0,0 1 0,0-1 0,0 1 0,0-1 0,0 1 0,0-1 0,0 1 0,0-1 0,0 2 0,-3 20 0,1 307 0,13-236 0,0 12 0,-13-144 0,-1 1 0,-3-1 0,-1 1 0,-1 0 0,-2 0 0,-23-53 0,21 56-1365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5"/>
    </inkml:context>
    <inkml:brush xml:id="br0">
      <inkml:brushProperty name="width" value="0.1" units="cm"/>
      <inkml:brushProperty name="height" value="0.1" units="cm"/>
      <inkml:brushProperty name="color" value="#FFFFFF"/>
    </inkml:brush>
  </inkml:definitions>
  <inkml:trace contextRef="#ctx0" brushRef="#br0">63 402 24575,'-3'-45'0,"-14"-77"0,8 73 0,-5-92 0,14 136 0,1 2 0,-1 1 0,0-1 0,0 1 0,0-1 0,0 1 0,-1 0 0,1-1 0,0 1 0,-1-1 0,0 1 0,0 0 0,0-1 0,0 1 0,-1-3 0,1 5 0,1 0 0,-1 0 0,1 0 0,0 1 0,-1-1 0,1 0 0,-1 0 0,1 1 0,0-1 0,-1 0 0,1 0 0,0 1 0,0-1 0,-1 0 0,1 1 0,0-1 0,0 0 0,-1 1 0,1-1 0,0 0 0,0 1 0,0-1 0,0 1 0,-1-1 0,1 0 0,0 1 0,0-1 0,0 1 0,0-1 0,0 1 0,0-1 0,0 0 0,0 1 0,0 0 0,-3 19 0,2 0 0,1 0 0,0 0 0,2 0 0,0 0 0,1 0 0,1 0 0,1 0 0,1-1 0,1 0 0,10 22 0,-14-34 0,-1 0 0,0 0 0,0 0 0,2 14 0,4 15 0,-8-36 0,0 1 0,0-1 0,0 0 0,0 1 0,1-1 0,-1 0 0,0 1 0,0-1 0,0 0 0,0 1 0,0-1 0,0 0 0,1 0 0,-1 1 0,0-1 0,0 0 0,1 1 0,-1-1 0,0 0 0,0 0 0,1 0 0,-1 1 0,0-1 0,1 0 0,-1 0 0,0 0 0,1 0 0,-1 1 0,0-1 0,1 0 0,-1 0 0,0 0 0,1 0 0,0 0 0,7-10 0,3-20 0,-8 13 0,0-1 0,-2 1 0,0-29 0,1-8 0,-2 52 0,-1 1 0,2 0 0,-1-1 0,0 1 0,0-1 0,0 1 0,1 0 0,-1-1 0,0 1 0,1 0 0,-1-1 0,1 1 0,0 0 0,-1 0 0,2-2 0,-1 3 0,-1 0 0,0 0 0,1 0 0,-1 0 0,1 0 0,-1 0 0,1 0 0,-1 0 0,0 0 0,1 0 0,-1 1 0,1-1 0,-1 0 0,0 0 0,1 0 0,-1 1 0,0-1 0,1 0 0,-1 0 0,0 1 0,1-1 0,-1 0 0,0 0 0,0 1 0,1-1 0,-1 1 0,0-1 0,0 0 0,1 1 0,-1 0 0,21 42 0,-19-39 0,76 184 0,-76-184 0,0 1 0,0 0 0,0-1 0,1 1 0,0-1 0,0 0 0,0 0 0,0 0 0,0 0 0,1 0 0,5 3 0,-9-7 0,0 0 0,1 0 0,-1 0 0,1 0 0,-1-1 0,1 1 0,-1 0 0,1 0 0,-1 0 0,0-1 0,1 1 0,-1 0 0,0 0 0,1-1 0,-1 1 0,0 0 0,1-1 0,-1 1 0,0-1 0,1 1 0,-1 0 0,0-1 0,0 1 0,0-1 0,1 1 0,-1-1 0,0 1 0,0 0 0,0-1 0,0 1 0,0-1 0,0 1 0,0-1 0,0 1 0,0-1 0,0 1 0,0-2 0,1-21 0,-1 22 0,0 0 0,0 1 0,0-1 0,0 1 0,0-1 0,0 0 0,0 1 0,0-1 0,0 1 0,0-1 0,0 0 0,1 1 0,-1-1 0,0 1 0,0-1 0,0 1 0,1-1 0,-1 1 0,0-1 0,1 1 0,-1-1 0,0 1 0,1-1 0,0 0 0,-1 1 0,1 1 0,-1-1 0,1 0 0,-1 0 0,1 0 0,-1 0 0,1 1 0,-1-1 0,1 0 0,-1 1 0,1-1 0,-1 0 0,0 1 0,1-1 0,-1 0 0,1 1 0,-1-1 0,0 1 0,1-1 0,-1 1 0,23 37 0,-17-26 0,9 13 189,-9-14-500,0 0 0,1-1 0,0 1 1,11 10-1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6"/>
    </inkml:context>
    <inkml:brush xml:id="br0">
      <inkml:brushProperty name="width" value="0.1" units="cm"/>
      <inkml:brushProperty name="height" value="0.1" units="cm"/>
      <inkml:brushProperty name="color" value="#FFFFFF"/>
    </inkml:brush>
  </inkml:definitions>
  <inkml:trace contextRef="#ctx0" brushRef="#br0">21 0 24575,'-15'289'0,"11"-210"0,3-64 0,1-20 0,0-145 0,2 192 0,10 51 0,-5-38 0,-7-53 0,0-1 0,0 0 0,1 0 0,-1 1 0,0-1 0,0 0 0,1 1 0,-1-1 0,1 0 0,-1 0 0,1 0 0,-1 0 0,1 1 0,0-1 0,0 0 0,-1 0 0,2 1 0,4-6 0,-2-11 0,-2-184 0,-3 183 0,2 119-1365,-1-83-5461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7"/>
    </inkml:context>
    <inkml:brush xml:id="br0">
      <inkml:brushProperty name="width" value="0.1" units="cm"/>
      <inkml:brushProperty name="height" value="0.1" units="cm"/>
      <inkml:brushProperty name="color" value="#FFFFFF"/>
    </inkml:brush>
  </inkml:definitions>
  <inkml:trace contextRef="#ctx0" brushRef="#br0">3 77 24575,'-1'32'0,"0"-20"0,1 0 0,0 1 0,1-1 0,0 0 0,3 14 0,-4-26 0,0 0 0,0 0 0,0 1 0,0-1 0,0 0 0,0 1 0,0-1 0,0 0 0,0 1 0,0-1 0,0 0 0,1 0 0,-1 1 0,0-1 0,0 0 0,0 0 0,0 1 0,0-1 0,1 0 0,-1 0 0,0 1 0,0-1 0,0 0 0,1 0 0,-1 0 0,0 0 0,0 1 0,1-1 0,-1 0 0,0 0 0,0 0 0,1 0 0,-1 0 0,0 0 0,1 0 0,-1 0 0,0 0 0,0 0 0,1 0 0,-1 0 0,0 0 0,1 0 0,-1 0 0,0 0 0,1 0 0,11-12 0,4-4 0,-15 16 0,-1 0 0,1 0 0,-1 0 0,1-1 0,-1 1 0,1 0 0,-1 0 0,1 1 0,0-1 0,-1 0 0,1 0 0,-1 0 0,1 0 0,-1 0 0,1 1 0,-1-1 0,1 0 0,-1 0 0,1 1 0,-1-1 0,1 0 0,-1 1 0,0-1 0,1 1 0,-1-1 0,0 0 0,1 1 0,-1-1 0,0 1 0,1-1 0,-1 1 0,0-1 0,0 1 0,1-1 0,-1 1 0,0-1 0,0 1 0,0 1 0,7 21 0,-6-18 0,0-1 0,0 1 0,1-1 0,-1 1 0,1-1 0,4 8 0,-5-11 0,0 0 0,0 0 0,-1-1 0,1 1 0,0 0 0,0 0 0,1 0 0,-1-1 0,0 1 0,0 0 0,0-1 0,0 1 0,0-1 0,1 0 0,-1 1 0,0-1 0,0 0 0,1 0 0,-1 0 0,0 0 0,1 0 0,-1 0 0,0 0 0,0 0 0,1 0 0,-1 0 0,0-1 0,0 1 0,1-1 0,0 0 0,0 0 0,1 0 0,-1-1 0,0 1 0,0-1 0,0 1 0,0-1 0,0 0 0,-1 0 0,1 0 0,0 0 0,-1 0 0,1 0 0,-1 0 0,0-1 0,0 1 0,0 0 0,0-1 0,0 1 0,-1-1 0,1 1 0,-1-1 0,1 1 0,-1-5 0,2-8 0,-2 1 0,-1-26 0,1 33 0,0 9 0,1-1 0,0 0 0,0 1 0,0-1 0,0 0 0,1 1 0,-1-1 0,0 0 0,0 0 0,1 0 0,-1 0 0,1 0 0,-1 0 0,2 0 0,-2 0 0,0-1 0,0 1 0,0-1 0,0 0 0,0 1 0,0-1 0,0 0 0,0 0 0,0 0 0,0 0 0,1 0 0,-1 0 0,0 0 0,0 0 0,0 0 0,0 0 0,0-1 0,0 1 0,0 0 0,0-1 0,0 1 0,0-1 0,0 1 0,0-1 0,0 1 0,0-1 0,-1 0 0,1 1 0,0-1 0,0 0 0,-1 0 0,1 0 0,0 0 0,-1 0 0,1-1 0,4-5 0,-1-1 0,-1-1 0,0 1 0,4-16 0,-4 13 0,-3 11 0,0 0 0,0 0 0,1 0 0,-1 0 0,0 0 0,0 0 0,0 1 0,0-1 0,0 0 0,0 0 0,0 0 0,0 0 0,0 0 0,0 0 0,0-1 0,1 1 0,-1 0 0,0 0 0,0 0 0,0 0 0,0 0 0,0 0 0,0 0 0,0 0 0,0 0 0,0 0 0,0 0 0,0 0 0,0 0 0,0 0 0,0 0 0,1 0 0,-1 0 0,0 0 0,0 0 0,0 0 0,0 0 0,0-1 0,0 1 0,0 0 0,0 0 0,1 11 0,-2-3 0,1-21 0,0 6 32,-4-30 268,4 35-400,-1 0 0,0 0 0,1 1 1,-1-1-1,0 0 0,0 0 0,0 1 0,0-1 1,0 0-1,-1 1 0,1 0 0,0-1 0,-1 1 0,1-1 1,-1 1-1,-2-1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8"/>
    </inkml:context>
    <inkml:brush xml:id="br0">
      <inkml:brushProperty name="width" value="0.1" units="cm"/>
      <inkml:brushProperty name="height" value="0.1" units="cm"/>
      <inkml:brushProperty name="color" value="#FFFFFF"/>
    </inkml:brush>
  </inkml:definitions>
  <inkml:trace contextRef="#ctx0" brushRef="#br0">0 415 24575,'1'-3'0,"0"0"0,0 1 0,1-1 0,-1 0 0,1 0 0,-1 0 0,1 1 0,0-1 0,0 1 0,0 0 0,0-1 0,0 1 0,5-3 0,10-13 0,40-62 0,-53 75 0,-1-1 0,0 0 0,0 0 0,0 0 0,-1-1 0,0 1 0,0-1 0,0 1 0,-1-1 0,1-11 0,-1-8 0,-3-39 0,0 18 0,1 6-1365,1 23-5461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09"/>
    </inkml:context>
    <inkml:brush xml:id="br0">
      <inkml:brushProperty name="width" value="0.1" units="cm"/>
      <inkml:brushProperty name="height" value="0.1" units="cm"/>
      <inkml:brushProperty name="color" value="#FFFFFF"/>
    </inkml:brush>
  </inkml:definitions>
  <inkml:trace contextRef="#ctx0" brushRef="#br0">351 398 24575,'0'-32'0,"-2"0"0,-1 0 0,-1 1 0,-15-53 0,8 30 0,10 42 0,-1 0 0,-1 0 0,0 0 0,-1 0 0,-8-20 0,10 29 0,0 1 0,0-1 0,0 0 0,0 0 0,0 1 0,-1-1 0,1 1 0,-1 0 0,0 0 0,1 0 0,-1 0 0,0 0 0,0 0 0,-1 1 0,1 0 0,0-1 0,0 1 0,-1 1 0,1-1 0,-1 0 0,1 1 0,0-1 0,-1 1 0,1 0 0,-5 1 0,7-1 0,-1 0 0,0 0 0,0 0 0,0 1 0,1-1 0,-1 1 0,0-1 0,1 1 0,-1 0 0,0-1 0,1 1 0,-1 0 0,1 0 0,-1 0 0,1 0 0,0 1 0,-1-1 0,-1 2 0,-14 29 0,14-26 0,1-1 0,-1 0 0,1 0 0,-8 9 0,6-10 0,0 1 0,0 0 0,1 1 0,-1-1 0,1 1 0,0-1 0,1 1 0,-1 0 0,1 0 0,0 0 0,1 0 0,-1 0 0,0 8 0,2-13 0,0 0 0,0 0 0,0 1 0,0-1 0,0 0 0,0 0 0,-1 1 0,1-1 0,0 0 0,-1 0 0,1 0 0,-1 0 0,0 1 0,1-1 0,-1 0 0,0 0 0,0 0 0,1 0 0,-1-1 0,0 1 0,0 0 0,-2 1 0,2-2 0,0 0 0,0 0 0,0-1 0,0 1 0,0 0 0,0 0 0,1-1 0,-1 1 0,0-1 0,0 1 0,0-1 0,0 1 0,1-1 0,-1 0 0,0 1 0,0-1 0,1 0 0,-1 0 0,1 1 0,-1-1 0,0-1 0,-6-8 0,1-1 0,0 0 0,-5-13 0,5 8 72,-4-5-551,2-2 0,-7-25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4:04.210"/>
    </inkml:context>
    <inkml:brush xml:id="br0">
      <inkml:brushProperty name="width" value="0.1" units="cm"/>
      <inkml:brushProperty name="height" value="0.1" units="cm"/>
      <inkml:brushProperty name="color" value="#FFFFFF"/>
    </inkml:brush>
  </inkml:definitions>
  <inkml:trace contextRef="#ctx0" brushRef="#br0">209 240 24575,'0'71'0,"0"-42"0,0-23 0,0-7 0,-1-26 0,-2 1 0,-1-1 0,0 1 0,-2 0 0,-1 1 0,-1-1 0,-2 1 0,0 1 0,-22-38 0,31 61 0,-3-6 0,0 1 0,0-1 0,-1 1 0,-8-9 0,12 15 0,0-1 0,1 0 0,-1 0 0,0 1 0,0-1 0,1 1 0,-1-1 0,0 0 0,0 1 0,0 0 0,0-1 0,0 1 0,0-1 0,0 1 0,0 0 0,0 0 0,0 0 0,0-1 0,0 1 0,0 0 0,0 0 0,0 1 0,0-1 0,0 0 0,0 0 0,0 0 0,0 1 0,0-1 0,0 0 0,0 1 0,0-1 0,0 1 0,0-1 0,1 1 0,-1-1 0,0 1 0,0 0 0,0-1 0,1 1 0,-1 0 0,0 0 0,1 0 0,-1 0 0,0 1 0,-5 8 0,0 1 0,1 0 0,0 0 0,0 0 0,2 1 0,-1 0 0,-2 17 0,0 9 0,0 40 0,5 74-1365,2-133-5461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7:44.141"/>
    </inkml:context>
    <inkml:brush xml:id="br0">
      <inkml:brushProperty name="width" value="0.1" units="cm"/>
      <inkml:brushProperty name="height" value="0.1" units="cm"/>
      <inkml:brushProperty name="color" value="#FFFFFF"/>
    </inkml:brush>
  </inkml:definitions>
  <inkml:trace contextRef="#ctx0" brushRef="#br0">1 647 24515,'104'-646'0,"-208"856"0,104 226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7:50.294"/>
    </inkml:context>
    <inkml:brush xml:id="br0">
      <inkml:brushProperty name="width" value="0.1" units="cm"/>
      <inkml:brushProperty name="height" value="0.1" units="cm"/>
      <inkml:brushProperty name="color" value="#FFFFFF"/>
    </inkml:brush>
  </inkml:definitions>
  <inkml:trace contextRef="#ctx0" brushRef="#br0">264 387 24575,'0'21'0,"2"6"0,-3-24 0,-1-13 0,0 2 0,0 1 0,0-1 0,-1 0 0,-4-8 0,-8-24 0,-1-44 0,11 49 0,-14-49 0,15 74 0,1-1 0,-1 1 0,-1 0 0,0 0 0,0 1 0,-1-1 0,0 1 0,-14-15 0,19 23 0,1 0 0,-1 1 0,1-1 0,-1 0 0,0 1 0,1-1 0,-1 0 0,0 1 0,1-1 0,-1 1 0,0-1 0,0 1 0,1 0 0,-1-1 0,0 1 0,0 0 0,0-1 0,0 1 0,1 0 0,-1 0 0,0 0 0,0 0 0,0 0 0,0 0 0,0 0 0,1 0 0,-3 0 0,2 1 0,0 0 0,0 0 0,0 0 0,0 0 0,0 0 0,1 0 0,-1 1 0,0-1 0,1 0 0,-1 0 0,0 0 0,1 1 0,0-1 0,-1 0 0,1 1 0,-1 0 0,-1 12 0,1 0 0,0 23 0,1-30 0,2 242 0,-4-233 0,2-16 0,0 0 0,0 0 0,0 1 0,0-1 0,0 0 0,0 0 0,0 0 0,0 0 0,0 0 0,0 0 0,-1 1 0,1-1 0,0 0 0,0 0 0,0 0 0,0 0 0,0 0 0,0 0 0,0 0 0,-1 1 0,1-1 0,0 0 0,0 0 0,0 0 0,0 0 0,0 0 0,-1 0 0,1 0 0,0 0 0,0 0 0,0 0 0,0 0 0,0 0 0,-1 0 0,1 0 0,0 0 0,0 0 0,0 0 0,0 0 0,-1 0 0,0-1 0,0 0 0,0-1 0,1 1 0,-1 0 0,0 0 0,0 0 0,1-1 0,-1 1 0,1 0 0,-1-1 0,1 1 0,-1-1 0,1 1 0,0-1 0,0-1 0,-10-80 0,8 51 0,-2-1 0,-2 0 0,-18-60 0,16 66 219,7 21-377,0 0-1,-1 1 1,1-1 0,-1 1-1,-1 0 1,1-1-1,-1 1 1,0 0-1,-6-7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7:55.546"/>
    </inkml:context>
    <inkml:brush xml:id="br0">
      <inkml:brushProperty name="width" value="0.1" units="cm"/>
      <inkml:brushProperty name="height" value="0.1" units="cm"/>
      <inkml:brushProperty name="color" value="#FFFFFF"/>
    </inkml:brush>
  </inkml:definitions>
  <inkml:trace contextRef="#ctx0" brushRef="#br0">267 178 24575,'1'20'0,"1"1"0,6 26 0,-1-9 0,19 76 0,-8-39 0,-18-73 0,1 2 0,0 0 0,-1 0 0,2 0 0,-1 0 0,0 0 0,1-1 0,0 1 0,2 3 0,-4-7 0,0 0 0,0 0 0,1 0 0,-1 0 0,0 0 0,0 0 0,0 0 0,1 0 0,-1 0 0,0 0 0,0 0 0,0 0 0,1 0 0,-1 0 0,0 0 0,0 0 0,0 0 0,0-1 0,1 1 0,-1 0 0,0 0 0,0 0 0,0 0 0,0 0 0,0 0 0,1-1 0,-1 1 0,0 0 0,0 0 0,0 0 0,0-1 0,0 1 0,0 0 0,0 0 0,0 0 0,0-1 0,0 1 0,0 0 0,0 0 0,0 0 0,0-1 0,0 1 0,0 0 0,0 0 0,0 0 0,0-1 0,0 1 0,0 0 0,0 0 0,2-14 0,-2 2 0,0-1 0,0 1 0,-2-1 0,1 1 0,-1 0 0,-1-1 0,0 1 0,-1 0 0,0 1 0,-1-1 0,0 1 0,-1 0 0,0 0 0,-1 0 0,-8-9 0,15 20 0,0-1 0,-1 1 0,1-1 0,0 0 0,-1 1 0,1-1 0,0 1 0,-1 0 0,1-1 0,-1 1 0,1-1 0,-1 1 0,1 0 0,-1-1 0,1 1 0,-1 0 0,1-1 0,-1 1 0,1 0 0,-1 0 0,1-1 0,-1 1 0,0 0 0,1 0 0,-1 0 0,1 0 0,-1 0 0,0 0 0,0 0 0,0 1 0,1 0 0,-1-1 0,1 1 0,-1 0 0,0 0 0,1 0 0,0-1 0,-1 1 0,1 0 0,-1 0 0,1 0 0,0 0 0,0 0 0,-1 0 0,1 0 0,0 1 0,-1 50 0,2-45 0,1 103 0,-1-199 0,-3-107 0,2 186 0,-1 0 0,0 0 0,-1 1 0,0-1 0,0 0 0,-1 1 0,-6-14 0,9 23 0,0 0 0,0-1 0,0 1 0,0-1 0,-1 1 0,1-1 0,0 1 0,0 0 0,-1-1 0,1 1 0,0-1 0,-1 1 0,1 0 0,0-1 0,-1 1 0,1 0 0,-1 0 0,1-1 0,0 1 0,-1 0 0,1 0 0,-1-1 0,1 1 0,-1 0 0,1 0 0,-1 0 0,1 0 0,-1 0 0,-6 11 0,2 22 0,4 103 0,2-77 0,-1-59 0,0 1 0,1 0 0,-1 0 0,0-1 0,0 1 0,0 0 0,0-1 0,0 1 0,-1 0 0,1-1 0,0 1 0,0 0 0,0 0 0,-1-1 0,1 1 0,0 0 0,-1-1 0,1 1 0,0-1 0,-1 1 0,1-1 0,-1 2 0,0-2 0,0 0 0,1 0 0,-1-1 0,1 1 0,-1 0 0,1 0 0,-1 0 0,1 0 0,-1-1 0,1 1 0,-1 0 0,1 0 0,-1-1 0,1 1 0,-1 0 0,1-1 0,0 1 0,-1-1 0,1 1 0,-1-1 0,1 0 0,-24-33 0,22 30 0,-52-83 0,12 21 0,-38-82 0,74 133-1365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8:00.967"/>
    </inkml:context>
    <inkml:brush xml:id="br0">
      <inkml:brushProperty name="width" value="0.1" units="cm"/>
      <inkml:brushProperty name="height" value="0.1" units="cm"/>
      <inkml:brushProperty name="color" value="#FFFFFF"/>
    </inkml:brush>
  </inkml:definitions>
  <inkml:trace contextRef="#ctx0" brushRef="#br0">60 418 24575,'1'-63'0,"0"7"0,-2-1 0,-13-81 0,12 121 0,2 14 0,0-1 0,0 1 0,0-1 0,-1 1 0,0-1 0,1 1 0,-1 0 0,-1-1 0,1 1 0,0 0 0,-1 0 0,0 0 0,-2-4 0,4 7 0,-1 0 0,1 0 0,0 0 0,0 0 0,-1 0 0,1 0 0,0 0 0,-1 0 0,1 0 0,0 0 0,0 0 0,-1 0 0,1 0 0,0 0 0,-1 0 0,1 1 0,0-1 0,0 0 0,-1 0 0,1 0 0,0 0 0,0 1 0,0-1 0,-1 0 0,1 0 0,0 0 0,0 1 0,0-1 0,0 0 0,-1 0 0,1 1 0,0-1 0,0 0 0,0 1 0,0-1 0,0 0 0,0 0 0,0 1 0,0-1 0,0 0 0,0 1 0,0-1 0,0 0 0,0 1 0,-3 14 0,1 106 0,1-121 0,1 0 0,0-1 0,0 1 0,0 0 0,0 0 0,0-1 0,-1 1 0,1 0 0,0 0 0,0 0 0,0-1 0,-1 1 0,1 0 0,0 0 0,0 0 0,-1 0 0,1 0 0,0 0 0,0-1 0,-1 1 0,1 0 0,0 0 0,-1 0 0,1 0 0,0 0 0,0 0 0,-1 0 0,1 0 0,0 0 0,0 0 0,-1 0 0,1 0 0,0 0 0,-1 1 0,1-1 0,0 0 0,0 0 0,-1 0 0,1 0 0,0 0 0,0 1 0,0-1 0,-1 0 0,1 0 0,0 0 0,0 1 0,0-1 0,-1 0 0,1 0 0,0 0 0,0 1 0,0-1 0,0 0 0,0 0 0,0 1 0,-1-1 0,1 0 0,0 1 0,0-1 0,0 0 0,0 0 0,0 1 0,0-1 0,0 0 0,0 1 0,-3-7 0,8 12 0,4 11 0,-1 1 0,0-1 0,-1 1 0,-1 1 0,-1-1 0,-1 1 0,4 34 0,-9-417 0,0 451 0,3 100 0,3-167 0,0-15 0,0-14 0,-2-13 0,-1 0 0,0 0 0,-2 0 0,-2-22 0,1 13 0,2-33 0,-1 62 0,0 1 0,0-1 0,0 1 0,0-1 0,0 1 0,1 0 0,-1-1 0,0 1 0,1-1 0,-1 1 0,1 0 0,0-1 0,-1 1 0,1 0 0,0-1 0,0 1 0,0 0 0,0 0 0,0 0 0,0 0 0,0 0 0,0 0 0,0 0 0,1 0 0,-1 1 0,0-1 0,0 0 0,1 1 0,-1-1 0,1 1 0,-1-1 0,0 1 0,1 0 0,-1-1 0,1 1 0,-1 0 0,4 0 0,-3 1 0,0-1 0,0 1 0,1-1 0,-1 1 0,0 0 0,0 0 0,0 0 0,0 0 0,0 0 0,0 1 0,-1-1 0,1 0 0,0 1 0,0 0 0,-1-1 0,1 1 0,-1 0 0,0 0 0,0 0 0,1 0 0,-1 0 0,0 0 0,0 0 0,0 3 0,0-3 0,0 0 0,-1 0 0,0-1 0,1 1 0,-1 0 0,0 0 0,0 0 0,0 0 0,0 0 0,0 0 0,0 0 0,0 0 0,-1 0 0,1-1 0,-1 1 0,1 0 0,-1 0 0,0 0 0,0-1 0,0 1 0,0 0 0,0-1 0,0 1 0,0-1 0,-1 1 0,1-1 0,0 0 0,-3 2 0,2-2 0,0 0 0,0 0 0,0 0 0,0 0 0,0-1 0,-1 1 0,1-1 0,0 1 0,0-1 0,-1 0 0,1 0 0,0 0 0,0 0 0,-1 0 0,1-1 0,0 1 0,0-1 0,-1 1 0,1-1 0,0 0 0,0 0 0,0 0 0,0 0 0,-2-1 0,1 0 0,1 0 0,0 0 0,0 0 0,0 0 0,0-1 0,0 1 0,0-1 0,1 1 0,-3-5 0,3 4 0,-1 1 0,1-1 0,-1 1 0,0-1 0,0 1 0,0 0 0,-4-4 0,6 6 0,0-1 0,0 1 0,0 0 0,-1 0 0,1 0 0,0 0 0,0 0 0,0 0 0,0 0 0,0 0 0,-1 0 0,1 0 0,0 0 0,0 0 0,0 0 0,-1 0 0,1 0 0,0 0 0,0 0 0,0 0 0,0 0 0,-1 0 0,1 0 0,0 0 0,0 0 0,0 0 0,0 0 0,-1 0 0,1 0 0,0 0 0,0 0 0,0 1 0,0-1 0,0 0 0,0 0 0,-1 0 0,1 0 0,0 0 0,0 0 0,0 1 0,0-1 0,0 0 0,-4 11 0,2 13 0,2-23 0,0 13 0,3 208 0,-2-212-124,1 1 0,0-1 0,1 0 0,0 0 0,1 0 0,0 0-1,1 0 1,0-1 0,0 1 0,8 8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23:38:03.140"/>
    </inkml:context>
    <inkml:brush xml:id="br0">
      <inkml:brushProperty name="width" value="0.1" units="cm"/>
      <inkml:brushProperty name="height" value="0.1" units="cm"/>
      <inkml:brushProperty name="color" value="#FFFFFF"/>
    </inkml:brush>
  </inkml:definitions>
  <inkml:trace contextRef="#ctx0" brushRef="#br0">1 1 24575,'0'7'0,"0"9"0,0 9 0,0 4 0,0 1 0,0-2 0,0-1 0,0-3 0,0-1 0,0-1 0,0-1 0,0-1 0,0 1 0,0-1 0,0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1079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2260023-F7BD-4990-9F9B-6CC30AD5253F}"/>
            </a:ext>
          </a:extLst>
        </p:cNvPr>
        <p:cNvGrpSpPr/>
        <p:nvPr/>
      </p:nvGrpSpPr>
      <p:grpSpPr>
        <a:xfrm>
          <a:off x="0" y="0"/>
          <a:ext cx="0" cy="0"/>
          <a:chOff x="0" y="0"/>
          <a:chExt cx="0" cy="0"/>
        </a:xfrm>
      </p:grpSpPr>
      <p:sp>
        <p:nvSpPr>
          <p:cNvPr id="127" name="Google Shape;127;p5:notes">
            <a:extLst>
              <a:ext uri="{FF2B5EF4-FFF2-40B4-BE49-F238E27FC236}">
                <a16:creationId xmlns:a16="http://schemas.microsoft.com/office/drawing/2014/main" id="{FB09F195-49E1-05BB-5D5D-A520868E86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a:extLst>
              <a:ext uri="{FF2B5EF4-FFF2-40B4-BE49-F238E27FC236}">
                <a16:creationId xmlns:a16="http://schemas.microsoft.com/office/drawing/2014/main" id="{2544E9F5-D7DE-AE7D-9BB4-26DAEE5E45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99461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7c4a5d9683_1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6" name="Google Shape;156;g37c4a5d9683_1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g37c4a5d9683_1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7c4a5d9683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37c4a5d9683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1" name="Google Shape;1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001E7-6EC8-5F56-EDAD-26951179C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84E79-A8BD-3E24-23EA-A35CA6A974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451FB7-7490-2EB0-7945-FD6A251AC2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8F4E5F-383B-071D-2DAB-33676742F24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642881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43DE-3057-B24B-CECB-634F7EC9C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B39AF-B94A-C9C7-BCA1-7E65FD8A6B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004917-7702-4543-48D7-23AAEEDC6A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187789-73DB-9A16-2508-0E85AE24247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514215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914400" y="205979"/>
            <a:ext cx="7772400" cy="85725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914400" y="1085850"/>
            <a:ext cx="7772400" cy="3429000"/>
          </a:xfrm>
          <a:prstGeom prst="rect">
            <a:avLst/>
          </a:prstGeom>
          <a:noFill/>
          <a:ln>
            <a:noFill/>
          </a:ln>
        </p:spPr>
        <p:txBody>
          <a:bodyPr spcFirstLastPara="1" wrap="square" lIns="91425" tIns="45700" rIns="91425" bIns="45700" anchor="t" anchorCtr="0">
            <a:normAutofit/>
          </a:bodyPr>
          <a:lstStyle>
            <a:lvl1pPr marL="342900" lvl="0" indent="-244316" algn="l">
              <a:spcBef>
                <a:spcPts val="435"/>
              </a:spcBef>
              <a:spcAft>
                <a:spcPts val="0"/>
              </a:spcAft>
              <a:buSzPts val="1530"/>
              <a:buChar char="⚫"/>
              <a:defRPr/>
            </a:lvl1pPr>
            <a:lvl2pPr marL="685800" lvl="1" indent="-244316" algn="l">
              <a:spcBef>
                <a:spcPts val="278"/>
              </a:spcBef>
              <a:spcAft>
                <a:spcPts val="0"/>
              </a:spcAft>
              <a:buSzPts val="1530"/>
              <a:buChar char="⚫"/>
              <a:defRPr/>
            </a:lvl2pPr>
            <a:lvl3pPr marL="1028700" lvl="2" indent="-244316" algn="l">
              <a:spcBef>
                <a:spcPts val="278"/>
              </a:spcBef>
              <a:spcAft>
                <a:spcPts val="0"/>
              </a:spcAft>
              <a:buSzPts val="1530"/>
              <a:buChar char="⚫"/>
              <a:defRPr/>
            </a:lvl3pPr>
            <a:lvl4pPr marL="1371600" lvl="3" indent="-240029" algn="l">
              <a:spcBef>
                <a:spcPts val="278"/>
              </a:spcBef>
              <a:spcAft>
                <a:spcPts val="0"/>
              </a:spcAft>
              <a:buSzPts val="1440"/>
              <a:buChar char="⚫"/>
              <a:defRPr/>
            </a:lvl4pPr>
            <a:lvl5pPr marL="1714500" lvl="4" indent="-257175" algn="l">
              <a:spcBef>
                <a:spcPts val="278"/>
              </a:spcBef>
              <a:spcAft>
                <a:spcPts val="0"/>
              </a:spcAft>
              <a:buSzPts val="1800"/>
              <a:buChar char="o"/>
              <a:defRPr/>
            </a:lvl5pPr>
            <a:lvl6pPr marL="2057400" lvl="5" indent="-257175" algn="l">
              <a:spcBef>
                <a:spcPts val="278"/>
              </a:spcBef>
              <a:spcAft>
                <a:spcPts val="0"/>
              </a:spcAft>
              <a:buSzPts val="1800"/>
              <a:buChar char="•"/>
              <a:defRPr/>
            </a:lvl6pPr>
            <a:lvl7pPr marL="2400300" lvl="6" indent="-257175" algn="l">
              <a:spcBef>
                <a:spcPts val="278"/>
              </a:spcBef>
              <a:spcAft>
                <a:spcPts val="0"/>
              </a:spcAft>
              <a:buSzPts val="1800"/>
              <a:buChar char="•"/>
              <a:defRPr/>
            </a:lvl7pPr>
            <a:lvl8pPr marL="2743200" lvl="7" indent="-257175" algn="l">
              <a:spcBef>
                <a:spcPts val="278"/>
              </a:spcBef>
              <a:spcAft>
                <a:spcPts val="0"/>
              </a:spcAft>
              <a:buSzPts val="1800"/>
              <a:buChar char="•"/>
              <a:defRPr/>
            </a:lvl8pPr>
            <a:lvl9pPr marL="3086100" lvl="8" indent="-257175" algn="l">
              <a:spcBef>
                <a:spcPts val="278"/>
              </a:spcBef>
              <a:spcAft>
                <a:spcPts val="0"/>
              </a:spcAft>
              <a:buSzPts val="1800"/>
              <a:buChar char="•"/>
              <a:defRPr/>
            </a:lvl9pPr>
          </a:lstStyle>
          <a:p>
            <a:endParaRPr/>
          </a:p>
        </p:txBody>
      </p:sp>
      <p:sp>
        <p:nvSpPr>
          <p:cNvPr id="31" name="Google Shape;31;p17"/>
          <p:cNvSpPr>
            <a:spLocks noGrp="1"/>
          </p:cNvSpPr>
          <p:nvPr>
            <p:ph type="sldNum" idx="12"/>
          </p:nvPr>
        </p:nvSpPr>
        <p:spPr>
          <a:xfrm>
            <a:off x="146304" y="4657725"/>
            <a:ext cx="457200" cy="342900"/>
          </a:xfrm>
          <a:prstGeom prst="ellipse">
            <a:avLst/>
          </a:prstGeom>
          <a:solidFill>
            <a:srgbClr val="9E361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US" smtClean="0"/>
              <a:pPr/>
              <a:t>‹#›</a:t>
            </a:fld>
            <a:endParaRPr lang="en-US"/>
          </a:p>
        </p:txBody>
      </p:sp>
      <p:sp>
        <p:nvSpPr>
          <p:cNvPr id="32" name="Google Shape;32;p17"/>
          <p:cNvSpPr txBox="1">
            <a:spLocks noGrp="1"/>
          </p:cNvSpPr>
          <p:nvPr>
            <p:ph type="ftr" idx="11"/>
          </p:nvPr>
        </p:nvSpPr>
        <p:spPr>
          <a:xfrm>
            <a:off x="914400" y="4629150"/>
            <a:ext cx="3962400" cy="342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dt" idx="10"/>
          </p:nvPr>
        </p:nvSpPr>
        <p:spPr>
          <a:xfrm>
            <a:off x="6172200" y="4643437"/>
            <a:ext cx="2476500" cy="35718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40384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31.png"/><Relationship Id="rId21" Type="http://schemas.openxmlformats.org/officeDocument/2006/relationships/image" Target="../media/image22.png"/><Relationship Id="rId34" Type="http://schemas.openxmlformats.org/officeDocument/2006/relationships/customXml" Target="../ink/ink16.xml"/><Relationship Id="rId7" Type="http://schemas.openxmlformats.org/officeDocument/2006/relationships/image" Target="../media/image15.png"/><Relationship Id="rId12" Type="http://schemas.openxmlformats.org/officeDocument/2006/relationships/customXml" Target="../ink/ink5.xml"/><Relationship Id="rId17" Type="http://schemas.openxmlformats.org/officeDocument/2006/relationships/image" Target="../media/image20.png"/><Relationship Id="rId25" Type="http://schemas.openxmlformats.org/officeDocument/2006/relationships/image" Target="../media/image24.png"/><Relationship Id="rId33" Type="http://schemas.openxmlformats.org/officeDocument/2006/relationships/image" Target="../media/image28.png"/><Relationship Id="rId38" Type="http://schemas.openxmlformats.org/officeDocument/2006/relationships/customXml" Target="../ink/ink18.xml"/><Relationship Id="rId2" Type="http://schemas.openxmlformats.org/officeDocument/2006/relationships/notesSlide" Target="../notesSlides/notesSlide9.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customXml" Target="../ink/ink2.xml"/><Relationship Id="rId11" Type="http://schemas.openxmlformats.org/officeDocument/2006/relationships/image" Target="../media/image17.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30.png"/><Relationship Id="rId5" Type="http://schemas.openxmlformats.org/officeDocument/2006/relationships/image" Target="../media/image140.png"/><Relationship Id="rId15" Type="http://schemas.openxmlformats.org/officeDocument/2006/relationships/image" Target="../media/image19.png"/><Relationship Id="rId23" Type="http://schemas.openxmlformats.org/officeDocument/2006/relationships/image" Target="../media/image23.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21.png"/><Relationship Id="rId31" Type="http://schemas.openxmlformats.org/officeDocument/2006/relationships/image" Target="../media/image27.png"/><Relationship Id="rId4" Type="http://schemas.openxmlformats.org/officeDocument/2006/relationships/customXml" Target="../ink/ink1.xml"/><Relationship Id="rId9" Type="http://schemas.openxmlformats.org/officeDocument/2006/relationships/image" Target="../media/image16.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5.png"/><Relationship Id="rId30" Type="http://schemas.openxmlformats.org/officeDocument/2006/relationships/customXml" Target="../ink/ink14.xml"/><Relationship Id="rId35" Type="http://schemas.openxmlformats.org/officeDocument/2006/relationships/image" Target="../media/image29.png"/><Relationship Id="rId8" Type="http://schemas.openxmlformats.org/officeDocument/2006/relationships/customXml" Target="../ink/ink3.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gif"/><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808689" y="54339"/>
            <a:ext cx="3335311" cy="5143500"/>
          </a:xfrm>
          <a:prstGeom prst="rect">
            <a:avLst/>
          </a:prstGeom>
        </p:spPr>
      </p:pic>
      <p:sp>
        <p:nvSpPr>
          <p:cNvPr id="3" name="Text 0"/>
          <p:cNvSpPr/>
          <p:nvPr/>
        </p:nvSpPr>
        <p:spPr>
          <a:xfrm>
            <a:off x="230353" y="1411067"/>
            <a:ext cx="5645792" cy="1257456"/>
          </a:xfrm>
          <a:prstGeom prst="rect">
            <a:avLst/>
          </a:prstGeom>
          <a:noFill/>
          <a:ln/>
        </p:spPr>
        <p:txBody>
          <a:bodyPr wrap="square" lIns="0" tIns="0" rIns="0" bIns="0" rtlCol="0" anchor="t"/>
          <a:lstStyle/>
          <a:p>
            <a:pPr marL="0" indent="0" algn="l">
              <a:lnSpc>
                <a:spcPts val="3500"/>
              </a:lnSpc>
              <a:buNone/>
            </a:pPr>
            <a:r>
              <a:rPr lang="en-US" sz="4000" dirty="0">
                <a:solidFill>
                  <a:srgbClr val="1F1E1E"/>
                </a:solidFill>
                <a:latin typeface="Host Grotesk Medium" panose="020B0604020202020204" charset="0"/>
                <a:ea typeface="Alexandria Semi Bold" pitchFamily="34" charset="-122"/>
                <a:cs typeface="Alexandria Semi Bold" pitchFamily="34" charset="-120"/>
              </a:rPr>
              <a:t>VGG: Visual Geometry Group CNN Architecture</a:t>
            </a:r>
            <a:endParaRPr lang="en-US" sz="4000" dirty="0">
              <a:latin typeface="Host Grotesk Medium" panose="020B0604020202020204" charset="0"/>
            </a:endParaRPr>
          </a:p>
        </p:txBody>
      </p:sp>
      <p:sp>
        <p:nvSpPr>
          <p:cNvPr id="4" name="Text 1"/>
          <p:cNvSpPr/>
          <p:nvPr/>
        </p:nvSpPr>
        <p:spPr>
          <a:xfrm>
            <a:off x="372760" y="2355056"/>
            <a:ext cx="4767114" cy="433388"/>
          </a:xfrm>
          <a:prstGeom prst="rect">
            <a:avLst/>
          </a:prstGeom>
          <a:noFill/>
          <a:ln/>
        </p:spPr>
        <p:txBody>
          <a:bodyPr wrap="square" lIns="0" tIns="0" rIns="0" bIns="0" rtlCol="0" anchor="t"/>
          <a:lstStyle/>
          <a:p>
            <a:pPr marL="0" indent="0" algn="l">
              <a:lnSpc>
                <a:spcPts val="1700"/>
              </a:lnSpc>
              <a:buNone/>
            </a:pPr>
            <a:r>
              <a:rPr lang="en-US" sz="1050" dirty="0">
                <a:solidFill>
                  <a:srgbClr val="3B3535"/>
                </a:solidFill>
                <a:ea typeface="Sora Light" pitchFamily="34" charset="-122"/>
                <a:cs typeface="Sora Light" pitchFamily="34" charset="-120"/>
              </a:rPr>
              <a:t>A concise, visual guide to VGG (VGG16 &amp; VGG19) — architecture, strengths, limitations, and modern context.</a:t>
            </a:r>
            <a:endParaRPr lang="en-US" sz="1050" dirty="0"/>
          </a:p>
        </p:txBody>
      </p:sp>
      <p:sp>
        <p:nvSpPr>
          <p:cNvPr id="6" name="Rectangle 5">
            <a:extLst>
              <a:ext uri="{FF2B5EF4-FFF2-40B4-BE49-F238E27FC236}">
                <a16:creationId xmlns:a16="http://schemas.microsoft.com/office/drawing/2014/main" id="{DC4A1D1E-258E-E2AB-4729-D2E08AB53597}"/>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69E6929-8F1C-2053-5BA4-EFC4226081C3}"/>
              </a:ext>
            </a:extLst>
          </p:cNvPr>
          <p:cNvSpPr txBox="1"/>
          <p:nvPr/>
        </p:nvSpPr>
        <p:spPr>
          <a:xfrm>
            <a:off x="279357" y="3255379"/>
            <a:ext cx="2476960" cy="954107"/>
          </a:xfrm>
          <a:prstGeom prst="rect">
            <a:avLst/>
          </a:prstGeom>
          <a:noFill/>
        </p:spPr>
        <p:txBody>
          <a:bodyPr wrap="none" rtlCol="0">
            <a:spAutoFit/>
          </a:bodyPr>
          <a:lstStyle/>
          <a:p>
            <a:r>
              <a:rPr lang="en-US" sz="1400" dirty="0">
                <a:solidFill>
                  <a:schemeClr val="bg2">
                    <a:lumMod val="50000"/>
                  </a:schemeClr>
                </a:solidFill>
              </a:rPr>
              <a:t>Presented by</a:t>
            </a:r>
          </a:p>
          <a:p>
            <a:r>
              <a:rPr lang="en-US" sz="1400" dirty="0"/>
              <a:t>Aya Essam Hussein </a:t>
            </a:r>
            <a:r>
              <a:rPr lang="en-US" sz="1400" dirty="0" err="1"/>
              <a:t>Hefzy</a:t>
            </a:r>
            <a:endParaRPr lang="en-US" sz="1400" dirty="0"/>
          </a:p>
          <a:p>
            <a:r>
              <a:rPr lang="en-US" sz="1400" dirty="0"/>
              <a:t>Aya Ahmed </a:t>
            </a:r>
            <a:r>
              <a:rPr lang="en-US" sz="1400" dirty="0" err="1"/>
              <a:t>Ahmed</a:t>
            </a:r>
            <a:r>
              <a:rPr lang="en-US" sz="1400" dirty="0"/>
              <a:t> </a:t>
            </a:r>
            <a:r>
              <a:rPr lang="en-US" sz="1400" dirty="0" err="1"/>
              <a:t>Nasef</a:t>
            </a:r>
            <a:endParaRPr lang="en-US" sz="1400" dirty="0"/>
          </a:p>
          <a:p>
            <a:r>
              <a:rPr lang="en-US" sz="1400" dirty="0"/>
              <a:t>Mariam Ahmed Abdelhamid Ali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1"/>
          <p:cNvSpPr/>
          <p:nvPr/>
        </p:nvSpPr>
        <p:spPr>
          <a:xfrm>
            <a:off x="797355" y="356243"/>
            <a:ext cx="2903116" cy="356295"/>
          </a:xfrm>
          <a:prstGeom prst="rect">
            <a:avLst/>
          </a:prstGeom>
          <a:noFill/>
          <a:ln/>
        </p:spPr>
        <p:txBody>
          <a:bodyPr wrap="none" lIns="0" tIns="0" rIns="0" bIns="0" rtlCol="0" anchor="t"/>
          <a:lstStyle/>
          <a:p>
            <a:pPr indent="0">
              <a:lnSpc>
                <a:spcPts val="2600"/>
              </a:lnSpc>
              <a:buNone/>
            </a:pPr>
            <a:r>
              <a:rPr lang="en-US" sz="2200" b="1" dirty="0">
                <a:solidFill>
                  <a:srgbClr val="1F1E1E"/>
                </a:solidFill>
                <a:latin typeface="Alexandria Semi Bold" pitchFamily="34" charset="0"/>
                <a:cs typeface="Alexandria Semi Bold" pitchFamily="34" charset="-120"/>
              </a:rPr>
              <a:t>Introduction to VGG</a:t>
            </a:r>
          </a:p>
        </p:txBody>
      </p:sp>
      <p:sp>
        <p:nvSpPr>
          <p:cNvPr id="5" name="Shape 2"/>
          <p:cNvSpPr/>
          <p:nvPr/>
        </p:nvSpPr>
        <p:spPr>
          <a:xfrm>
            <a:off x="797355" y="843372"/>
            <a:ext cx="6219166" cy="1551113"/>
          </a:xfrm>
          <a:prstGeom prst="roundRect">
            <a:avLst>
              <a:gd name="adj" fmla="val 3411"/>
            </a:avLst>
          </a:prstGeom>
          <a:solidFill>
            <a:srgbClr val="D9EDF2"/>
          </a:solidFill>
          <a:ln w="4763">
            <a:solidFill>
              <a:srgbClr val="BBC2DC"/>
            </a:solidFill>
            <a:prstDash val="solid"/>
          </a:ln>
        </p:spPr>
        <p:txBody>
          <a:bodyPr/>
          <a:lstStyle/>
          <a:p>
            <a:endParaRPr lang="en-US"/>
          </a:p>
        </p:txBody>
      </p:sp>
      <p:sp>
        <p:nvSpPr>
          <p:cNvPr id="6" name="Text 3"/>
          <p:cNvSpPr/>
          <p:nvPr/>
        </p:nvSpPr>
        <p:spPr>
          <a:xfrm>
            <a:off x="937478" y="960247"/>
            <a:ext cx="1599530" cy="222647"/>
          </a:xfrm>
          <a:prstGeom prst="rect">
            <a:avLst/>
          </a:prstGeom>
          <a:noFill/>
          <a:ln/>
        </p:spPr>
        <p:txBody>
          <a:bodyPr wrap="none" lIns="0" tIns="0" rIns="0" bIns="0" rtlCol="0" anchor="t"/>
          <a:lstStyle/>
          <a:p>
            <a:pPr marL="0" indent="0" algn="l">
              <a:lnSpc>
                <a:spcPts val="1750"/>
              </a:lnSpc>
              <a:buNone/>
            </a:pPr>
            <a:r>
              <a:rPr lang="en-US" sz="1600" dirty="0">
                <a:solidFill>
                  <a:srgbClr val="3B3535"/>
                </a:solidFill>
                <a:latin typeface="Host Grotesk Medium" panose="020B0604020202020204" charset="0"/>
                <a:ea typeface="Alexandria Semi Bold" pitchFamily="34" charset="-122"/>
                <a:cs typeface="Alexandria Semi Bold" pitchFamily="34" charset="-120"/>
              </a:rPr>
              <a:t>Origins</a:t>
            </a:r>
            <a:endParaRPr lang="en-US" sz="1600" dirty="0">
              <a:latin typeface="Host Grotesk Medium" panose="020B0604020202020204" charset="0"/>
            </a:endParaRPr>
          </a:p>
        </p:txBody>
      </p:sp>
      <p:sp>
        <p:nvSpPr>
          <p:cNvPr id="7" name="Text 4"/>
          <p:cNvSpPr/>
          <p:nvPr/>
        </p:nvSpPr>
        <p:spPr>
          <a:xfrm>
            <a:off x="937478" y="1256331"/>
            <a:ext cx="5981608" cy="1083469"/>
          </a:xfrm>
          <a:prstGeom prst="rect">
            <a:avLst/>
          </a:prstGeom>
          <a:noFill/>
          <a:ln/>
        </p:spPr>
        <p:txBody>
          <a:bodyPr wrap="square" lIns="0" tIns="0" rIns="0" bIns="0" rtlCol="0" anchor="t"/>
          <a:lstStyle/>
          <a:p>
            <a:pPr>
              <a:lnSpc>
                <a:spcPts val="1700"/>
              </a:lnSpc>
            </a:pPr>
            <a:r>
              <a:rPr lang="en-US" sz="1200" dirty="0">
                <a:cs typeface="Sora Light" panose="020B0604020202020204" charset="0"/>
              </a:rPr>
              <a:t>VGG (Visual Geometry Group) is one of the most important convolutional neural network (CNN) architectures developed for image recognition tasks. Introduced </a:t>
            </a:r>
            <a:r>
              <a:rPr lang="en-US" sz="1200" dirty="0">
                <a:solidFill>
                  <a:srgbClr val="3B3535"/>
                </a:solidFill>
                <a:ea typeface="Sora Light" pitchFamily="34" charset="-122"/>
                <a:cs typeface="Sora Light" panose="020B0604020202020204" charset="0"/>
              </a:rPr>
              <a:t>by the Visual Geometry Group, University of Oxford (Simonyan &amp; Zisserman), 2014.</a:t>
            </a:r>
            <a:r>
              <a:rPr lang="en-US" sz="1200" dirty="0">
                <a:cs typeface="Sora Light" panose="020B0604020202020204" charset="0"/>
              </a:rPr>
              <a:t>, VGG achieved excellent performance in the ImageNet competition and showed that increasing network depth can significantly improve image classification accuracy.</a:t>
            </a:r>
          </a:p>
        </p:txBody>
      </p:sp>
      <p:sp>
        <p:nvSpPr>
          <p:cNvPr id="11" name="Shape 8"/>
          <p:cNvSpPr/>
          <p:nvPr/>
        </p:nvSpPr>
        <p:spPr>
          <a:xfrm>
            <a:off x="797355" y="2494216"/>
            <a:ext cx="6219165" cy="1551114"/>
          </a:xfrm>
          <a:prstGeom prst="roundRect">
            <a:avLst>
              <a:gd name="adj" fmla="val 3411"/>
            </a:avLst>
          </a:prstGeom>
          <a:solidFill>
            <a:srgbClr val="D9EDF2"/>
          </a:solidFill>
          <a:ln w="4763">
            <a:solidFill>
              <a:srgbClr val="BBC2DC"/>
            </a:solidFill>
            <a:prstDash val="solid"/>
          </a:ln>
        </p:spPr>
        <p:txBody>
          <a:bodyPr/>
          <a:lstStyle/>
          <a:p>
            <a:endParaRPr lang="en-US"/>
          </a:p>
        </p:txBody>
      </p:sp>
      <p:sp>
        <p:nvSpPr>
          <p:cNvPr id="12" name="Text 9"/>
          <p:cNvSpPr/>
          <p:nvPr/>
        </p:nvSpPr>
        <p:spPr>
          <a:xfrm>
            <a:off x="937477" y="2603341"/>
            <a:ext cx="1599605" cy="222647"/>
          </a:xfrm>
          <a:prstGeom prst="rect">
            <a:avLst/>
          </a:prstGeom>
          <a:noFill/>
          <a:ln/>
        </p:spPr>
        <p:txBody>
          <a:bodyPr wrap="none" lIns="0" tIns="0" rIns="0" bIns="0" rtlCol="0" anchor="t"/>
          <a:lstStyle/>
          <a:p>
            <a:pPr marL="0" indent="0" algn="l">
              <a:lnSpc>
                <a:spcPts val="1750"/>
              </a:lnSpc>
              <a:buNone/>
            </a:pPr>
            <a:r>
              <a:rPr lang="en-US" sz="1600" dirty="0">
                <a:solidFill>
                  <a:srgbClr val="3B3535"/>
                </a:solidFill>
                <a:latin typeface="Host Grotesk Medium" panose="020B0604020202020204" charset="0"/>
                <a:ea typeface="Alexandria Semi Bold" pitchFamily="34" charset="-122"/>
                <a:cs typeface="Alexandria Semi Bold" pitchFamily="34" charset="-120"/>
              </a:rPr>
              <a:t>Key Idea</a:t>
            </a:r>
            <a:endParaRPr lang="en-US" sz="1600" dirty="0">
              <a:latin typeface="Host Grotesk Medium" panose="020B0604020202020204" charset="0"/>
            </a:endParaRPr>
          </a:p>
        </p:txBody>
      </p:sp>
      <p:sp>
        <p:nvSpPr>
          <p:cNvPr id="13" name="Text 10"/>
          <p:cNvSpPr/>
          <p:nvPr/>
        </p:nvSpPr>
        <p:spPr>
          <a:xfrm>
            <a:off x="937477" y="2892184"/>
            <a:ext cx="5981609" cy="1083469"/>
          </a:xfrm>
          <a:prstGeom prst="rect">
            <a:avLst/>
          </a:prstGeom>
          <a:noFill/>
          <a:ln/>
        </p:spPr>
        <p:txBody>
          <a:bodyPr wrap="square" lIns="0" tIns="0" rIns="0" bIns="0" rtlCol="0" anchor="t"/>
          <a:lstStyle/>
          <a:p>
            <a:pPr>
              <a:lnSpc>
                <a:spcPts val="1700"/>
              </a:lnSpc>
            </a:pPr>
            <a:r>
              <a:rPr lang="en-US" sz="1200" dirty="0">
                <a:cs typeface="Sora Light" panose="020B0604020202020204" charset="0"/>
              </a:rPr>
              <a:t>VGG has a simple architecture, which uses multiple small 3×3 convolutional filters stacked together instead of larger filters. This approach allows the network to learn detailed and complex image features efficiently. Although newer models like </a:t>
            </a:r>
            <a:r>
              <a:rPr lang="en-US" sz="1200" dirty="0" err="1">
                <a:cs typeface="Sora Light" panose="020B0604020202020204" charset="0"/>
              </a:rPr>
              <a:t>ResNet</a:t>
            </a:r>
            <a:r>
              <a:rPr lang="en-US" sz="1200" dirty="0">
                <a:cs typeface="Sora Light" panose="020B0604020202020204" charset="0"/>
              </a:rPr>
              <a:t> and </a:t>
            </a:r>
            <a:r>
              <a:rPr lang="en-US" sz="1200" dirty="0" err="1">
                <a:cs typeface="Sora Light" panose="020B0604020202020204" charset="0"/>
              </a:rPr>
              <a:t>EfficientNet</a:t>
            </a:r>
            <a:r>
              <a:rPr lang="en-US" sz="1200" dirty="0">
                <a:cs typeface="Sora Light" panose="020B0604020202020204" charset="0"/>
              </a:rPr>
              <a:t> are more efficient, VGG remains a foundational and widely studied deep learning architecture due to its simplicity and effectiveness</a:t>
            </a:r>
            <a:r>
              <a:rPr lang="en-US" sz="1200" dirty="0">
                <a:solidFill>
                  <a:srgbClr val="3B3535"/>
                </a:solidFill>
                <a:ea typeface="Sora Light" pitchFamily="34" charset="-122"/>
                <a:cs typeface="Sora Light" panose="020B0604020202020204" charset="0"/>
              </a:rPr>
              <a:t>.</a:t>
            </a:r>
            <a:endParaRPr lang="en-US" sz="1200" dirty="0">
              <a:cs typeface="Sora Light" panose="020B0604020202020204" charset="0"/>
            </a:endParaRPr>
          </a:p>
        </p:txBody>
      </p:sp>
      <p:sp>
        <p:nvSpPr>
          <p:cNvPr id="14" name="Shape 11"/>
          <p:cNvSpPr/>
          <p:nvPr/>
        </p:nvSpPr>
        <p:spPr>
          <a:xfrm>
            <a:off x="797355" y="4137309"/>
            <a:ext cx="6219165" cy="682666"/>
          </a:xfrm>
          <a:prstGeom prst="roundRect">
            <a:avLst>
              <a:gd name="adj" fmla="val 7102"/>
            </a:avLst>
          </a:prstGeom>
          <a:solidFill>
            <a:srgbClr val="D9EDF2"/>
          </a:solidFill>
          <a:ln w="4763">
            <a:solidFill>
              <a:srgbClr val="BBC2DC"/>
            </a:solidFill>
            <a:prstDash val="solid"/>
          </a:ln>
        </p:spPr>
        <p:txBody>
          <a:bodyPr/>
          <a:lstStyle/>
          <a:p>
            <a:endParaRPr lang="en-US"/>
          </a:p>
        </p:txBody>
      </p:sp>
      <p:sp>
        <p:nvSpPr>
          <p:cNvPr id="15" name="Text 12"/>
          <p:cNvSpPr/>
          <p:nvPr/>
        </p:nvSpPr>
        <p:spPr>
          <a:xfrm>
            <a:off x="937477" y="4230937"/>
            <a:ext cx="1781696" cy="222647"/>
          </a:xfrm>
          <a:prstGeom prst="rect">
            <a:avLst/>
          </a:prstGeom>
          <a:noFill/>
          <a:ln/>
        </p:spPr>
        <p:txBody>
          <a:bodyPr wrap="none" lIns="0" tIns="0" rIns="0" bIns="0" rtlCol="0" anchor="t"/>
          <a:lstStyle/>
          <a:p>
            <a:pPr marL="0" indent="0" algn="l">
              <a:lnSpc>
                <a:spcPts val="1750"/>
              </a:lnSpc>
              <a:buNone/>
            </a:pPr>
            <a:r>
              <a:rPr lang="en-US" sz="1600" dirty="0">
                <a:solidFill>
                  <a:srgbClr val="3B3535"/>
                </a:solidFill>
                <a:latin typeface="Host Grotesk Medium" panose="020B0604020202020204" charset="0"/>
                <a:ea typeface="Alexandria Semi Bold" pitchFamily="34" charset="-122"/>
                <a:cs typeface="Alexandria Semi Bold" pitchFamily="34" charset="-120"/>
              </a:rPr>
              <a:t>Variants</a:t>
            </a:r>
            <a:endParaRPr lang="en-US" sz="1400" dirty="0">
              <a:latin typeface="Host Grotesk Medium" panose="020B0604020202020204" charset="0"/>
            </a:endParaRPr>
          </a:p>
        </p:txBody>
      </p:sp>
      <p:sp>
        <p:nvSpPr>
          <p:cNvPr id="16" name="Text 13"/>
          <p:cNvSpPr/>
          <p:nvPr/>
        </p:nvSpPr>
        <p:spPr>
          <a:xfrm>
            <a:off x="937477" y="4527020"/>
            <a:ext cx="3725021" cy="222647"/>
          </a:xfrm>
          <a:prstGeom prst="rect">
            <a:avLst/>
          </a:prstGeom>
          <a:noFill/>
          <a:ln/>
        </p:spPr>
        <p:txBody>
          <a:bodyPr wrap="none" lIns="0" tIns="0" rIns="0" bIns="0" rtlCol="0" anchor="t"/>
          <a:lstStyle/>
          <a:p>
            <a:pPr marL="0" indent="0" algn="l">
              <a:lnSpc>
                <a:spcPts val="1700"/>
              </a:lnSpc>
              <a:buNone/>
            </a:pPr>
            <a:r>
              <a:rPr lang="en-US" sz="1200" dirty="0">
                <a:solidFill>
                  <a:srgbClr val="3B3535"/>
                </a:solidFill>
                <a:ea typeface="Sora Light" pitchFamily="34" charset="-122"/>
                <a:cs typeface="Sora Light" pitchFamily="34" charset="-120"/>
              </a:rPr>
              <a:t>VGG16 (16 weight layers) and VGG19 (19 weight layers)</a:t>
            </a:r>
            <a:endParaRPr lang="en-US" sz="1200" dirty="0"/>
          </a:p>
        </p:txBody>
      </p:sp>
      <p:sp>
        <p:nvSpPr>
          <p:cNvPr id="2" name="Rectangle 1">
            <a:extLst>
              <a:ext uri="{FF2B5EF4-FFF2-40B4-BE49-F238E27FC236}">
                <a16:creationId xmlns:a16="http://schemas.microsoft.com/office/drawing/2014/main" id="{74D21BFA-8FD0-3B0B-6F6A-94A2A3180EEC}"/>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9190" b="8851"/>
          <a:stretch>
            <a:fillRect/>
          </a:stretch>
        </p:blipFill>
        <p:spPr>
          <a:xfrm>
            <a:off x="5715000" y="430225"/>
            <a:ext cx="3429000" cy="4215539"/>
          </a:xfrm>
          <a:prstGeom prst="rect">
            <a:avLst/>
          </a:prstGeom>
        </p:spPr>
      </p:pic>
      <p:sp>
        <p:nvSpPr>
          <p:cNvPr id="3" name="Text 0"/>
          <p:cNvSpPr/>
          <p:nvPr/>
        </p:nvSpPr>
        <p:spPr>
          <a:xfrm>
            <a:off x="373203" y="1903728"/>
            <a:ext cx="4355753" cy="356295"/>
          </a:xfrm>
          <a:prstGeom prst="rect">
            <a:avLst/>
          </a:prstGeom>
          <a:noFill/>
          <a:ln/>
        </p:spPr>
        <p:txBody>
          <a:bodyPr wrap="none" lIns="0" tIns="0" rIns="0" bIns="0" rtlCol="0" anchor="t"/>
          <a:lstStyle/>
          <a:p>
            <a:pPr indent="0">
              <a:lnSpc>
                <a:spcPts val="2750"/>
              </a:lnSpc>
              <a:buNone/>
            </a:pPr>
            <a:r>
              <a:rPr lang="en-US" sz="2200" dirty="0">
                <a:solidFill>
                  <a:srgbClr val="2E3C4E"/>
                </a:solidFill>
                <a:latin typeface="Host Grotesk Medium" panose="020B0604020202020204" charset="0"/>
              </a:rPr>
              <a:t>Why Computer Vision Matters</a:t>
            </a:r>
          </a:p>
        </p:txBody>
      </p:sp>
      <p:sp>
        <p:nvSpPr>
          <p:cNvPr id="4" name="Text 1"/>
          <p:cNvSpPr/>
          <p:nvPr/>
        </p:nvSpPr>
        <p:spPr>
          <a:xfrm>
            <a:off x="373204" y="2380949"/>
            <a:ext cx="4767114" cy="1544826"/>
          </a:xfrm>
          <a:prstGeom prst="rect">
            <a:avLst/>
          </a:prstGeom>
          <a:noFill/>
          <a:ln/>
        </p:spPr>
        <p:txBody>
          <a:bodyPr wrap="square" lIns="0" tIns="0" rIns="0" bIns="0" rtlCol="0" anchor="t"/>
          <a:lstStyle/>
          <a:p>
            <a:pPr marL="342900" indent="-342900" algn="l">
              <a:lnSpc>
                <a:spcPts val="1700"/>
              </a:lnSpc>
              <a:buSzPct val="100000"/>
              <a:buChar char="•"/>
            </a:pPr>
            <a:r>
              <a:rPr lang="en-US" sz="1200" dirty="0">
                <a:solidFill>
                  <a:srgbClr val="3B3535"/>
                </a:solidFill>
                <a:ea typeface="Sora Light" pitchFamily="34" charset="-122"/>
                <a:cs typeface="Sora Light" pitchFamily="34" charset="-120"/>
              </a:rPr>
              <a:t>Autonomous vehicles: Real-time perception for safety: detection, segmentation, tracking.</a:t>
            </a:r>
            <a:endParaRPr lang="en-US" sz="1200" dirty="0"/>
          </a:p>
          <a:p>
            <a:pPr marL="342900" indent="-342900" algn="l">
              <a:lnSpc>
                <a:spcPts val="1700"/>
              </a:lnSpc>
              <a:buSzPct val="100000"/>
              <a:buChar char="•"/>
            </a:pPr>
            <a:r>
              <a:rPr lang="en-US" sz="1200" dirty="0">
                <a:solidFill>
                  <a:srgbClr val="3B3535"/>
                </a:solidFill>
                <a:ea typeface="Sora Light" pitchFamily="34" charset="-122"/>
                <a:cs typeface="Sora Light" pitchFamily="34" charset="-120"/>
              </a:rPr>
              <a:t>Medical imaging: Assist diagnosis with high-resolution feature extraction.</a:t>
            </a:r>
            <a:endParaRPr lang="en-US" sz="1200" dirty="0"/>
          </a:p>
          <a:p>
            <a:pPr marL="342900" indent="-342900" algn="l">
              <a:lnSpc>
                <a:spcPts val="1700"/>
              </a:lnSpc>
              <a:buSzPct val="100000"/>
              <a:buChar char="•"/>
            </a:pPr>
            <a:r>
              <a:rPr lang="en-US" sz="1200" dirty="0">
                <a:solidFill>
                  <a:srgbClr val="3B3535"/>
                </a:solidFill>
                <a:ea typeface="Sora Light" pitchFamily="34" charset="-122"/>
                <a:cs typeface="Sora Light" pitchFamily="34" charset="-120"/>
              </a:rPr>
              <a:t>Face recognition &amp; biometrics: Identity, access control, and threat detection workflows.</a:t>
            </a:r>
            <a:endParaRPr lang="en-US" sz="1200" dirty="0"/>
          </a:p>
          <a:p>
            <a:pPr marL="342900" indent="-342900" algn="l">
              <a:lnSpc>
                <a:spcPts val="1700"/>
              </a:lnSpc>
              <a:buSzPct val="100000"/>
              <a:buChar char="•"/>
            </a:pPr>
            <a:r>
              <a:rPr lang="en-US" sz="1200" dirty="0">
                <a:solidFill>
                  <a:srgbClr val="3B3535"/>
                </a:solidFill>
                <a:ea typeface="Sora Light" pitchFamily="34" charset="-122"/>
                <a:cs typeface="Sora Light" pitchFamily="34" charset="-120"/>
              </a:rPr>
              <a:t>Surveillance &amp; retail: object detection and analytics</a:t>
            </a:r>
            <a:endParaRPr lang="en-US" sz="1200" dirty="0"/>
          </a:p>
        </p:txBody>
      </p:sp>
      <p:sp>
        <p:nvSpPr>
          <p:cNvPr id="5" name="Text 2"/>
          <p:cNvSpPr/>
          <p:nvPr/>
        </p:nvSpPr>
        <p:spPr>
          <a:xfrm>
            <a:off x="388194" y="4009423"/>
            <a:ext cx="4767114" cy="346621"/>
          </a:xfrm>
          <a:prstGeom prst="rect">
            <a:avLst/>
          </a:prstGeom>
          <a:noFill/>
          <a:ln/>
        </p:spPr>
        <p:txBody>
          <a:bodyPr wrap="square" lIns="0" tIns="0" rIns="0" bIns="0" rtlCol="0" anchor="t"/>
          <a:lstStyle/>
          <a:p>
            <a:pPr marL="0" indent="0" algn="l">
              <a:lnSpc>
                <a:spcPts val="1350"/>
              </a:lnSpc>
              <a:buNone/>
            </a:pPr>
            <a:r>
              <a:rPr lang="en-US" sz="1200" dirty="0">
                <a:solidFill>
                  <a:srgbClr val="3B3535"/>
                </a:solidFill>
                <a:ea typeface="Sora Light" pitchFamily="34" charset="-122"/>
                <a:cs typeface="Sora Light" pitchFamily="34" charset="-120"/>
              </a:rPr>
              <a:t>Visual systems power real products — VGG-style feature extractors are often part of those pipelines.</a:t>
            </a:r>
            <a:endParaRPr lang="en-US" sz="1200" dirty="0"/>
          </a:p>
        </p:txBody>
      </p:sp>
      <p:sp>
        <p:nvSpPr>
          <p:cNvPr id="6" name="Text 0">
            <a:extLst>
              <a:ext uri="{FF2B5EF4-FFF2-40B4-BE49-F238E27FC236}">
                <a16:creationId xmlns:a16="http://schemas.microsoft.com/office/drawing/2014/main" id="{F58DBCE2-28F4-3E13-05D4-094801DD325C}"/>
              </a:ext>
            </a:extLst>
          </p:cNvPr>
          <p:cNvSpPr/>
          <p:nvPr/>
        </p:nvSpPr>
        <p:spPr>
          <a:xfrm>
            <a:off x="373204" y="699644"/>
            <a:ext cx="4355753" cy="356295"/>
          </a:xfrm>
          <a:prstGeom prst="rect">
            <a:avLst/>
          </a:prstGeom>
          <a:noFill/>
          <a:ln/>
        </p:spPr>
        <p:txBody>
          <a:bodyPr wrap="none" lIns="0" tIns="0" rIns="0" bIns="0" rtlCol="0" anchor="t"/>
          <a:lstStyle/>
          <a:p>
            <a:pPr>
              <a:lnSpc>
                <a:spcPts val="2750"/>
              </a:lnSpc>
            </a:pPr>
            <a:r>
              <a:rPr lang="en-US" sz="2200" dirty="0">
                <a:solidFill>
                  <a:srgbClr val="2E3C4E"/>
                </a:solidFill>
                <a:latin typeface="Host Grotesk Medium" panose="020B0604020202020204" charset="0"/>
              </a:rPr>
              <a:t>VGG in Computer Vision</a:t>
            </a:r>
          </a:p>
        </p:txBody>
      </p:sp>
      <p:sp>
        <p:nvSpPr>
          <p:cNvPr id="20" name="TextBox 19">
            <a:extLst>
              <a:ext uri="{FF2B5EF4-FFF2-40B4-BE49-F238E27FC236}">
                <a16:creationId xmlns:a16="http://schemas.microsoft.com/office/drawing/2014/main" id="{6225F61F-6E87-E4B6-7F25-BC74835DF725}"/>
              </a:ext>
            </a:extLst>
          </p:cNvPr>
          <p:cNvSpPr txBox="1"/>
          <p:nvPr/>
        </p:nvSpPr>
        <p:spPr>
          <a:xfrm>
            <a:off x="373203" y="1150768"/>
            <a:ext cx="4767114" cy="461665"/>
          </a:xfrm>
          <a:prstGeom prst="rect">
            <a:avLst/>
          </a:prstGeom>
          <a:noFill/>
        </p:spPr>
        <p:txBody>
          <a:bodyPr wrap="square" rtlCol="0">
            <a:spAutoFit/>
          </a:bodyPr>
          <a:lstStyle/>
          <a:p>
            <a:r>
              <a:rPr lang="en-US" sz="1200" dirty="0">
                <a:cs typeface="Sora Light" panose="020B0604020202020204" charset="0"/>
              </a:rPr>
              <a:t>VGG became widely used in computer vision applications such as image classification, transfer learning, facial recognition, and medical imaging</a:t>
            </a:r>
            <a:endParaRPr lang="en-US" sz="1200" dirty="0"/>
          </a:p>
        </p:txBody>
      </p:sp>
      <p:sp>
        <p:nvSpPr>
          <p:cNvPr id="10" name="Rectangle 9">
            <a:extLst>
              <a:ext uri="{FF2B5EF4-FFF2-40B4-BE49-F238E27FC236}">
                <a16:creationId xmlns:a16="http://schemas.microsoft.com/office/drawing/2014/main" id="{D976ED8D-98DD-AA58-5CB9-7C871239C18F}"/>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F4DB500-5EFA-2A83-F6FE-0D758A549289}"/>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hape 2">
            <a:extLst>
              <a:ext uri="{FF2B5EF4-FFF2-40B4-BE49-F238E27FC236}">
                <a16:creationId xmlns:a16="http://schemas.microsoft.com/office/drawing/2014/main" id="{DCB89094-B2DB-F4B0-7E1B-E40A1B2A86F6}"/>
              </a:ext>
            </a:extLst>
          </p:cNvPr>
          <p:cNvSpPr/>
          <p:nvPr/>
        </p:nvSpPr>
        <p:spPr>
          <a:xfrm>
            <a:off x="4917906" y="3711739"/>
            <a:ext cx="3732984" cy="1297060"/>
          </a:xfrm>
          <a:prstGeom prst="roundRect">
            <a:avLst>
              <a:gd name="adj" fmla="val 3411"/>
            </a:avLst>
          </a:prstGeom>
          <a:solidFill>
            <a:srgbClr val="F4F6F8"/>
          </a:solidFill>
          <a:ln w="4763">
            <a:solidFill>
              <a:schemeClr val="accent5"/>
            </a:solidFill>
            <a:prstDash val="solid"/>
          </a:ln>
        </p:spPr>
        <p:txBody>
          <a:bodyPr/>
          <a:lstStyle/>
          <a:p>
            <a:endParaRPr lang="en-US"/>
          </a:p>
        </p:txBody>
      </p:sp>
      <p:sp>
        <p:nvSpPr>
          <p:cNvPr id="2" name="Shape 2">
            <a:extLst>
              <a:ext uri="{FF2B5EF4-FFF2-40B4-BE49-F238E27FC236}">
                <a16:creationId xmlns:a16="http://schemas.microsoft.com/office/drawing/2014/main" id="{21DA7C05-511B-8769-CB0B-1DB072864427}"/>
              </a:ext>
            </a:extLst>
          </p:cNvPr>
          <p:cNvSpPr/>
          <p:nvPr/>
        </p:nvSpPr>
        <p:spPr>
          <a:xfrm>
            <a:off x="428972" y="3704244"/>
            <a:ext cx="3732984" cy="1297060"/>
          </a:xfrm>
          <a:prstGeom prst="roundRect">
            <a:avLst>
              <a:gd name="adj" fmla="val 3411"/>
            </a:avLst>
          </a:prstGeom>
          <a:solidFill>
            <a:srgbClr val="F4F6F8"/>
          </a:solidFill>
          <a:ln w="4763">
            <a:solidFill>
              <a:schemeClr val="accent5"/>
            </a:solidFill>
            <a:prstDash val="solid"/>
          </a:ln>
        </p:spPr>
        <p:txBody>
          <a:bodyPr/>
          <a:lstStyle/>
          <a:p>
            <a:endParaRPr lang="en-US"/>
          </a:p>
        </p:txBody>
      </p:sp>
      <p:sp>
        <p:nvSpPr>
          <p:cNvPr id="3" name="Text 0"/>
          <p:cNvSpPr/>
          <p:nvPr/>
        </p:nvSpPr>
        <p:spPr>
          <a:xfrm>
            <a:off x="3453844" y="237691"/>
            <a:ext cx="2236311" cy="356295"/>
          </a:xfrm>
          <a:prstGeom prst="rect">
            <a:avLst/>
          </a:prstGeom>
          <a:noFill/>
          <a:ln/>
        </p:spPr>
        <p:txBody>
          <a:bodyPr wrap="none" lIns="0" tIns="0" rIns="0" bIns="0" rtlCol="0" anchor="t"/>
          <a:lstStyle/>
          <a:p>
            <a:pPr>
              <a:lnSpc>
                <a:spcPts val="2750"/>
              </a:lnSpc>
            </a:pPr>
            <a:r>
              <a:rPr lang="en-US" sz="2200" dirty="0">
                <a:solidFill>
                  <a:srgbClr val="2E3C4E"/>
                </a:solidFill>
                <a:latin typeface="Host Grotesk Medium" panose="020B0604020202020204" charset="0"/>
              </a:rPr>
              <a:t>VGG Architecture</a:t>
            </a:r>
          </a:p>
        </p:txBody>
      </p:sp>
      <p:sp>
        <p:nvSpPr>
          <p:cNvPr id="4" name="Text 1"/>
          <p:cNvSpPr/>
          <p:nvPr/>
        </p:nvSpPr>
        <p:spPr>
          <a:xfrm>
            <a:off x="538080" y="3792619"/>
            <a:ext cx="3443373" cy="1180368"/>
          </a:xfrm>
          <a:prstGeom prst="rect">
            <a:avLst/>
          </a:prstGeom>
          <a:noFill/>
          <a:ln/>
        </p:spPr>
        <p:txBody>
          <a:bodyPr wrap="square" lIns="0" tIns="0" rIns="0" bIns="0" rtlCol="0" anchor="t"/>
          <a:lstStyle/>
          <a:p>
            <a:pPr fontAlgn="base"/>
            <a:r>
              <a:rPr lang="en-US" sz="1200" dirty="0"/>
              <a:t>VGG-19 is a deep convolutional neural network with 19 weight layers, comprising 16 convolutional layers and 3 fully connected layers.</a:t>
            </a:r>
          </a:p>
          <a:p>
            <a:pPr fontAlgn="base"/>
            <a:r>
              <a:rPr lang="en-US" sz="1200" dirty="0"/>
              <a:t>The architecture follows a straightforward and repetitive pattern, making it easier to understand and implement.</a:t>
            </a:r>
          </a:p>
        </p:txBody>
      </p:sp>
      <p:sp>
        <p:nvSpPr>
          <p:cNvPr id="10" name="Text 1">
            <a:extLst>
              <a:ext uri="{FF2B5EF4-FFF2-40B4-BE49-F238E27FC236}">
                <a16:creationId xmlns:a16="http://schemas.microsoft.com/office/drawing/2014/main" id="{D69B60BF-27F6-9F62-1CB3-019D037972DD}"/>
              </a:ext>
            </a:extLst>
          </p:cNvPr>
          <p:cNvSpPr/>
          <p:nvPr/>
        </p:nvSpPr>
        <p:spPr>
          <a:xfrm>
            <a:off x="4989540" y="3792619"/>
            <a:ext cx="3443373" cy="1231170"/>
          </a:xfrm>
          <a:prstGeom prst="rect">
            <a:avLst/>
          </a:prstGeom>
          <a:noFill/>
          <a:ln/>
        </p:spPr>
        <p:txBody>
          <a:bodyPr wrap="square" lIns="0" tIns="0" rIns="0" bIns="0" rtlCol="0" anchor="t"/>
          <a:lstStyle/>
          <a:p>
            <a:pPr fontAlgn="base"/>
            <a:r>
              <a:rPr lang="en-US" sz="1200" dirty="0"/>
              <a:t>The key components of the VGG-19 architecture are:</a:t>
            </a:r>
          </a:p>
          <a:p>
            <a:pPr marL="628650" lvl="1" indent="-171450" fontAlgn="base">
              <a:buFont typeface="Arial" panose="020B0604020202020204" pitchFamily="34" charset="0"/>
              <a:buChar char="•"/>
            </a:pPr>
            <a:r>
              <a:rPr lang="en-US" sz="1200" dirty="0"/>
              <a:t>Convolutional Layers</a:t>
            </a:r>
            <a:endParaRPr lang="en-US" sz="300" dirty="0"/>
          </a:p>
          <a:p>
            <a:pPr marL="628650" lvl="1" indent="-171450" fontAlgn="base">
              <a:buFont typeface="Arial" panose="020B0604020202020204" pitchFamily="34" charset="0"/>
              <a:buChar char="•"/>
            </a:pPr>
            <a:r>
              <a:rPr lang="en-US" sz="1200" dirty="0"/>
              <a:t>Activation Function</a:t>
            </a:r>
          </a:p>
          <a:p>
            <a:pPr marL="628650" lvl="1" indent="-171450" fontAlgn="base">
              <a:buFont typeface="Arial" panose="020B0604020202020204" pitchFamily="34" charset="0"/>
              <a:buChar char="•"/>
            </a:pPr>
            <a:r>
              <a:rPr lang="en-US" sz="1200" dirty="0"/>
              <a:t>Pooling Layers</a:t>
            </a:r>
          </a:p>
          <a:p>
            <a:pPr marL="628650" lvl="1" indent="-171450" fontAlgn="base">
              <a:buFont typeface="Arial" panose="020B0604020202020204" pitchFamily="34" charset="0"/>
              <a:buChar char="•"/>
            </a:pPr>
            <a:r>
              <a:rPr lang="en-US" sz="1200" dirty="0"/>
              <a:t>Fully Connected Layers</a:t>
            </a:r>
          </a:p>
          <a:p>
            <a:pPr marL="628650" lvl="1" indent="-171450" fontAlgn="base">
              <a:buFont typeface="Arial" panose="020B0604020202020204" pitchFamily="34" charset="0"/>
              <a:buChar char="•"/>
            </a:pPr>
            <a:r>
              <a:rPr lang="en-US" sz="1200" dirty="0"/>
              <a:t>SoftMax Layer</a:t>
            </a:r>
          </a:p>
          <a:p>
            <a:pPr fontAlgn="base"/>
            <a:endParaRPr lang="en-US" sz="1200" dirty="0"/>
          </a:p>
        </p:txBody>
      </p:sp>
      <p:pic>
        <p:nvPicPr>
          <p:cNvPr id="7" name="Picture 6">
            <a:extLst>
              <a:ext uri="{FF2B5EF4-FFF2-40B4-BE49-F238E27FC236}">
                <a16:creationId xmlns:a16="http://schemas.microsoft.com/office/drawing/2014/main" id="{86A431E3-F0F3-496C-0ECF-F73852781AFD}"/>
              </a:ext>
            </a:extLst>
          </p:cNvPr>
          <p:cNvPicPr>
            <a:picLocks noChangeAspect="1"/>
          </p:cNvPicPr>
          <p:nvPr/>
        </p:nvPicPr>
        <p:blipFill>
          <a:blip r:embed="rId3"/>
          <a:srcRect t="14603" b="10905"/>
          <a:stretch>
            <a:fillRect/>
          </a:stretch>
        </p:blipFill>
        <p:spPr>
          <a:xfrm>
            <a:off x="1728624" y="593985"/>
            <a:ext cx="5686752" cy="302989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96DDA99A-DFA6-2E8B-A147-C6799E922B62}"/>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29421EE3-C336-E3F2-AC07-EB9235C1F3E4}"/>
              </a:ext>
            </a:extLst>
          </p:cNvPr>
          <p:cNvSpPr/>
          <p:nvPr/>
        </p:nvSpPr>
        <p:spPr>
          <a:xfrm>
            <a:off x="496119" y="867519"/>
            <a:ext cx="5896198" cy="354360"/>
          </a:xfrm>
          <a:prstGeom prst="rect">
            <a:avLst/>
          </a:prstGeom>
          <a:noFill/>
          <a:ln/>
        </p:spPr>
        <p:txBody>
          <a:bodyPr wrap="none" lIns="0" tIns="0" rIns="0" bIns="0" rtlCol="0" anchor="t"/>
          <a:lstStyle/>
          <a:p>
            <a:pPr marL="0" indent="0" algn="l">
              <a:lnSpc>
                <a:spcPts val="2750"/>
              </a:lnSpc>
              <a:buNone/>
            </a:pPr>
            <a:r>
              <a:rPr lang="en-US" sz="2200" dirty="0">
                <a:solidFill>
                  <a:srgbClr val="2E3C4E"/>
                </a:solidFill>
                <a:latin typeface="Host Grotesk Medium" panose="020B0604020202020204" charset="0"/>
              </a:rPr>
              <a:t>1. Convolutional Layer — Concept &amp; Parameters</a:t>
            </a:r>
          </a:p>
        </p:txBody>
      </p:sp>
      <p:sp>
        <p:nvSpPr>
          <p:cNvPr id="7" name="Text 1">
            <a:extLst>
              <a:ext uri="{FF2B5EF4-FFF2-40B4-BE49-F238E27FC236}">
                <a16:creationId xmlns:a16="http://schemas.microsoft.com/office/drawing/2014/main" id="{B9C43960-45F2-2112-F309-643DF11199A8}"/>
              </a:ext>
            </a:extLst>
          </p:cNvPr>
          <p:cNvSpPr/>
          <p:nvPr/>
        </p:nvSpPr>
        <p:spPr>
          <a:xfrm>
            <a:off x="496119" y="1437941"/>
            <a:ext cx="8151763" cy="425202"/>
          </a:xfrm>
          <a:prstGeom prst="rect">
            <a:avLst/>
          </a:prstGeom>
          <a:noFill/>
          <a:ln/>
        </p:spPr>
        <p:txBody>
          <a:bodyPr wrap="square" lIns="0" tIns="0" rIns="0" bIns="0" rtlCol="0" anchor="t"/>
          <a:lstStyle/>
          <a:p>
            <a:pPr marL="0" indent="0" algn="l">
              <a:lnSpc>
                <a:spcPts val="1650"/>
              </a:lnSpc>
              <a:buNone/>
            </a:pPr>
            <a:r>
              <a:rPr lang="en-US" sz="1200" dirty="0">
                <a:solidFill>
                  <a:srgbClr val="384653"/>
                </a:solidFill>
                <a:latin typeface="Roboto" pitchFamily="34" charset="0"/>
                <a:ea typeface="Roboto" pitchFamily="34" charset="-122"/>
                <a:cs typeface="Roboto" pitchFamily="34" charset="-120"/>
              </a:rPr>
              <a:t>Convolution applies learnable filters across the input to produce feature maps. The operation at position (x,y): element-wise multiply, sum, add bias, then apply nonlinearity.</a:t>
            </a:r>
            <a:endParaRPr lang="en-US" sz="1200" dirty="0"/>
          </a:p>
        </p:txBody>
      </p:sp>
      <p:pic>
        <p:nvPicPr>
          <p:cNvPr id="8" name="Image 0" descr="preencoded.png">
            <a:extLst>
              <a:ext uri="{FF2B5EF4-FFF2-40B4-BE49-F238E27FC236}">
                <a16:creationId xmlns:a16="http://schemas.microsoft.com/office/drawing/2014/main" id="{E61410A6-E3AD-2577-02D4-5CC286D32407}"/>
              </a:ext>
            </a:extLst>
          </p:cNvPr>
          <p:cNvPicPr>
            <a:picLocks noChangeAspect="1"/>
          </p:cNvPicPr>
          <p:nvPr/>
        </p:nvPicPr>
        <p:blipFill>
          <a:blip r:embed="rId3"/>
          <a:stretch>
            <a:fillRect/>
          </a:stretch>
        </p:blipFill>
        <p:spPr>
          <a:xfrm>
            <a:off x="2801169" y="2067634"/>
            <a:ext cx="3012504" cy="354360"/>
          </a:xfrm>
          <a:prstGeom prst="rect">
            <a:avLst/>
          </a:prstGeom>
        </p:spPr>
      </p:pic>
      <p:sp>
        <p:nvSpPr>
          <p:cNvPr id="9" name="Shape 2">
            <a:extLst>
              <a:ext uri="{FF2B5EF4-FFF2-40B4-BE49-F238E27FC236}">
                <a16:creationId xmlns:a16="http://schemas.microsoft.com/office/drawing/2014/main" id="{3B38E26D-BC2D-D7F8-25E1-06DA9D37E938}"/>
              </a:ext>
            </a:extLst>
          </p:cNvPr>
          <p:cNvSpPr/>
          <p:nvPr/>
        </p:nvSpPr>
        <p:spPr>
          <a:xfrm>
            <a:off x="445843" y="2839086"/>
            <a:ext cx="2758085" cy="1436895"/>
          </a:xfrm>
          <a:prstGeom prst="roundRect">
            <a:avLst>
              <a:gd name="adj" fmla="val 6265"/>
            </a:avLst>
          </a:prstGeom>
          <a:solidFill>
            <a:srgbClr val="FAF9F5"/>
          </a:solidFill>
          <a:ln w="19050">
            <a:solidFill>
              <a:srgbClr val="BFD3D8"/>
            </a:solidFill>
            <a:prstDash val="solid"/>
          </a:ln>
        </p:spPr>
        <p:txBody>
          <a:bodyPr/>
          <a:lstStyle/>
          <a:p>
            <a:endParaRPr lang="en-US"/>
          </a:p>
        </p:txBody>
      </p:sp>
      <p:pic>
        <p:nvPicPr>
          <p:cNvPr id="11" name="Image 2" descr="preencoded.png">
            <a:extLst>
              <a:ext uri="{FF2B5EF4-FFF2-40B4-BE49-F238E27FC236}">
                <a16:creationId xmlns:a16="http://schemas.microsoft.com/office/drawing/2014/main" id="{6C064986-C51F-3B30-F4C1-05C716BF5F28}"/>
              </a:ext>
            </a:extLst>
          </p:cNvPr>
          <p:cNvPicPr>
            <a:picLocks noChangeAspect="1"/>
          </p:cNvPicPr>
          <p:nvPr/>
        </p:nvPicPr>
        <p:blipFill>
          <a:blip r:embed="rId4"/>
          <a:stretch>
            <a:fillRect/>
          </a:stretch>
        </p:blipFill>
        <p:spPr>
          <a:xfrm>
            <a:off x="1559520" y="2626485"/>
            <a:ext cx="425276" cy="425276"/>
          </a:xfrm>
          <a:prstGeom prst="rect">
            <a:avLst/>
          </a:prstGeom>
        </p:spPr>
      </p:pic>
      <p:sp>
        <p:nvSpPr>
          <p:cNvPr id="13" name="Text 4">
            <a:extLst>
              <a:ext uri="{FF2B5EF4-FFF2-40B4-BE49-F238E27FC236}">
                <a16:creationId xmlns:a16="http://schemas.microsoft.com/office/drawing/2014/main" id="{98BD60DE-1720-9A34-B309-A0CB220448D5}"/>
              </a:ext>
            </a:extLst>
          </p:cNvPr>
          <p:cNvSpPr/>
          <p:nvPr/>
        </p:nvSpPr>
        <p:spPr>
          <a:xfrm>
            <a:off x="606652" y="3193446"/>
            <a:ext cx="1772022" cy="221456"/>
          </a:xfrm>
          <a:prstGeom prst="rect">
            <a:avLst/>
          </a:prstGeom>
          <a:noFill/>
          <a:ln/>
        </p:spPr>
        <p:txBody>
          <a:bodyPr wrap="none" lIns="0" tIns="0" rIns="0" bIns="0" rtlCol="0" anchor="t"/>
          <a:lstStyle/>
          <a:p>
            <a:pPr marL="0" indent="0" algn="l">
              <a:lnSpc>
                <a:spcPts val="1700"/>
              </a:lnSpc>
              <a:buNone/>
            </a:pPr>
            <a:r>
              <a:rPr lang="en-US" sz="1400" dirty="0">
                <a:solidFill>
                  <a:srgbClr val="384653"/>
                </a:solidFill>
                <a:latin typeface="Host Grotesk Medium" pitchFamily="34" charset="0"/>
                <a:ea typeface="Host Grotesk Medium" pitchFamily="34" charset="-122"/>
                <a:cs typeface="Host Grotesk Medium" pitchFamily="34" charset="-120"/>
              </a:rPr>
              <a:t>Filter Size (3x3</a:t>
            </a:r>
            <a:endParaRPr lang="en-US" sz="1400" dirty="0"/>
          </a:p>
        </p:txBody>
      </p:sp>
      <p:sp>
        <p:nvSpPr>
          <p:cNvPr id="14" name="Text 5">
            <a:extLst>
              <a:ext uri="{FF2B5EF4-FFF2-40B4-BE49-F238E27FC236}">
                <a16:creationId xmlns:a16="http://schemas.microsoft.com/office/drawing/2014/main" id="{B30C6126-A09F-3E09-4CC5-80DF7817D5E4}"/>
              </a:ext>
            </a:extLst>
          </p:cNvPr>
          <p:cNvSpPr/>
          <p:nvPr/>
        </p:nvSpPr>
        <p:spPr>
          <a:xfrm>
            <a:off x="606652" y="3497370"/>
            <a:ext cx="2597276" cy="945488"/>
          </a:xfrm>
          <a:prstGeom prst="rect">
            <a:avLst/>
          </a:prstGeom>
          <a:noFill/>
          <a:ln/>
        </p:spPr>
        <p:txBody>
          <a:bodyPr wrap="square" lIns="0" tIns="0" rIns="0" bIns="0" rtlCol="0" anchor="t"/>
          <a:lstStyle/>
          <a:p>
            <a:pPr marL="0" indent="0" algn="l">
              <a:lnSpc>
                <a:spcPts val="1650"/>
              </a:lnSpc>
              <a:buNone/>
            </a:pPr>
            <a:r>
              <a:rPr lang="en-US" sz="1200" dirty="0">
                <a:solidFill>
                  <a:srgbClr val="384653"/>
                </a:solidFill>
                <a:latin typeface="Roboto" pitchFamily="34" charset="0"/>
                <a:ea typeface="Roboto" pitchFamily="34" charset="-122"/>
                <a:cs typeface="Roboto" pitchFamily="34" charset="-120"/>
              </a:rPr>
              <a:t>Stacking three 3x3 filters creates the same effective receptive field as one 7x7 filter, but with fewer parameters.</a:t>
            </a:r>
          </a:p>
        </p:txBody>
      </p:sp>
      <p:sp>
        <p:nvSpPr>
          <p:cNvPr id="15" name="Shape 6">
            <a:extLst>
              <a:ext uri="{FF2B5EF4-FFF2-40B4-BE49-F238E27FC236}">
                <a16:creationId xmlns:a16="http://schemas.microsoft.com/office/drawing/2014/main" id="{4B658042-5401-6FAC-A13B-773516D31E5F}"/>
              </a:ext>
            </a:extLst>
          </p:cNvPr>
          <p:cNvSpPr/>
          <p:nvPr/>
        </p:nvSpPr>
        <p:spPr>
          <a:xfrm>
            <a:off x="3350541" y="2816498"/>
            <a:ext cx="2622724" cy="1459483"/>
          </a:xfrm>
          <a:prstGeom prst="roundRect">
            <a:avLst>
              <a:gd name="adj" fmla="val 6265"/>
            </a:avLst>
          </a:prstGeom>
          <a:solidFill>
            <a:srgbClr val="FAF9F5"/>
          </a:solidFill>
          <a:ln w="19050">
            <a:solidFill>
              <a:srgbClr val="BFD3D8"/>
            </a:solidFill>
            <a:prstDash val="solid"/>
          </a:ln>
        </p:spPr>
        <p:txBody>
          <a:bodyPr/>
          <a:lstStyle/>
          <a:p>
            <a:endParaRPr lang="en-US"/>
          </a:p>
        </p:txBody>
      </p:sp>
      <p:pic>
        <p:nvPicPr>
          <p:cNvPr id="17" name="Image 4" descr="preencoded.png">
            <a:extLst>
              <a:ext uri="{FF2B5EF4-FFF2-40B4-BE49-F238E27FC236}">
                <a16:creationId xmlns:a16="http://schemas.microsoft.com/office/drawing/2014/main" id="{8AE7F9F7-2ADC-1F4B-D866-D938CE643185}"/>
              </a:ext>
            </a:extLst>
          </p:cNvPr>
          <p:cNvPicPr>
            <a:picLocks noChangeAspect="1"/>
          </p:cNvPicPr>
          <p:nvPr/>
        </p:nvPicPr>
        <p:blipFill>
          <a:blip r:embed="rId4"/>
          <a:stretch>
            <a:fillRect/>
          </a:stretch>
        </p:blipFill>
        <p:spPr>
          <a:xfrm>
            <a:off x="4449227" y="2603897"/>
            <a:ext cx="425276" cy="425276"/>
          </a:xfrm>
          <a:prstGeom prst="rect">
            <a:avLst/>
          </a:prstGeom>
        </p:spPr>
      </p:pic>
      <p:sp>
        <p:nvSpPr>
          <p:cNvPr id="19" name="Text 8">
            <a:extLst>
              <a:ext uri="{FF2B5EF4-FFF2-40B4-BE49-F238E27FC236}">
                <a16:creationId xmlns:a16="http://schemas.microsoft.com/office/drawing/2014/main" id="{D3B0655B-5228-15D4-11FE-22A9D92A789D}"/>
              </a:ext>
            </a:extLst>
          </p:cNvPr>
          <p:cNvSpPr/>
          <p:nvPr/>
        </p:nvSpPr>
        <p:spPr>
          <a:xfrm>
            <a:off x="3511350" y="3170858"/>
            <a:ext cx="1772022" cy="221456"/>
          </a:xfrm>
          <a:prstGeom prst="rect">
            <a:avLst/>
          </a:prstGeom>
          <a:noFill/>
          <a:ln/>
        </p:spPr>
        <p:txBody>
          <a:bodyPr wrap="none" lIns="0" tIns="0" rIns="0" bIns="0" rtlCol="0" anchor="t"/>
          <a:lstStyle/>
          <a:p>
            <a:pPr marL="0" indent="0" algn="l">
              <a:lnSpc>
                <a:spcPts val="1700"/>
              </a:lnSpc>
              <a:buNone/>
            </a:pPr>
            <a:r>
              <a:rPr lang="en-US" sz="1400" dirty="0">
                <a:solidFill>
                  <a:srgbClr val="384653"/>
                </a:solidFill>
                <a:latin typeface="Host Grotesk Medium" pitchFamily="34" charset="0"/>
                <a:ea typeface="Host Grotesk Medium" pitchFamily="34" charset="-122"/>
                <a:cs typeface="Host Grotesk Medium" pitchFamily="34" charset="-120"/>
              </a:rPr>
              <a:t>Stride</a:t>
            </a:r>
            <a:endParaRPr lang="en-US" sz="1400" dirty="0"/>
          </a:p>
        </p:txBody>
      </p:sp>
      <p:sp>
        <p:nvSpPr>
          <p:cNvPr id="20" name="Text 9">
            <a:extLst>
              <a:ext uri="{FF2B5EF4-FFF2-40B4-BE49-F238E27FC236}">
                <a16:creationId xmlns:a16="http://schemas.microsoft.com/office/drawing/2014/main" id="{310EB515-A718-4591-7AF0-0FB736B893AB}"/>
              </a:ext>
            </a:extLst>
          </p:cNvPr>
          <p:cNvSpPr/>
          <p:nvPr/>
        </p:nvSpPr>
        <p:spPr>
          <a:xfrm>
            <a:off x="3511350" y="3477369"/>
            <a:ext cx="2301106" cy="425202"/>
          </a:xfrm>
          <a:prstGeom prst="rect">
            <a:avLst/>
          </a:prstGeom>
          <a:noFill/>
          <a:ln/>
        </p:spPr>
        <p:txBody>
          <a:bodyPr wrap="square" lIns="0" tIns="0" rIns="0" bIns="0" rtlCol="0" anchor="t"/>
          <a:lstStyle/>
          <a:p>
            <a:pPr marL="0" indent="0" algn="l">
              <a:lnSpc>
                <a:spcPts val="1650"/>
              </a:lnSpc>
              <a:buNone/>
            </a:pPr>
            <a:r>
              <a:rPr lang="en-US" sz="1200" dirty="0">
                <a:solidFill>
                  <a:srgbClr val="384653"/>
                </a:solidFill>
                <a:latin typeface="Roboto" pitchFamily="34" charset="0"/>
                <a:ea typeface="Roboto" pitchFamily="34" charset="-122"/>
                <a:cs typeface="Roboto" pitchFamily="34" charset="-120"/>
              </a:rPr>
              <a:t>Controls step size of the filter; larger strides reduce output resolution.</a:t>
            </a:r>
            <a:endParaRPr lang="en-US" sz="1200" dirty="0"/>
          </a:p>
        </p:txBody>
      </p:sp>
      <p:sp>
        <p:nvSpPr>
          <p:cNvPr id="21" name="Shape 10">
            <a:extLst>
              <a:ext uri="{FF2B5EF4-FFF2-40B4-BE49-F238E27FC236}">
                <a16:creationId xmlns:a16="http://schemas.microsoft.com/office/drawing/2014/main" id="{2F346DB8-1D61-9C92-C1D1-4AC060A878DD}"/>
              </a:ext>
            </a:extLst>
          </p:cNvPr>
          <p:cNvSpPr/>
          <p:nvPr/>
        </p:nvSpPr>
        <p:spPr>
          <a:xfrm>
            <a:off x="6115023" y="2816498"/>
            <a:ext cx="2622724" cy="1459483"/>
          </a:xfrm>
          <a:prstGeom prst="roundRect">
            <a:avLst>
              <a:gd name="adj" fmla="val 6265"/>
            </a:avLst>
          </a:prstGeom>
          <a:solidFill>
            <a:srgbClr val="FAF9F5"/>
          </a:solidFill>
          <a:ln w="19050">
            <a:solidFill>
              <a:srgbClr val="BFD3D8"/>
            </a:solidFill>
            <a:prstDash val="solid"/>
          </a:ln>
        </p:spPr>
        <p:txBody>
          <a:bodyPr/>
          <a:lstStyle/>
          <a:p>
            <a:endParaRPr lang="en-US"/>
          </a:p>
        </p:txBody>
      </p:sp>
      <p:pic>
        <p:nvPicPr>
          <p:cNvPr id="23" name="Image 6" descr="preencoded.png">
            <a:extLst>
              <a:ext uri="{FF2B5EF4-FFF2-40B4-BE49-F238E27FC236}">
                <a16:creationId xmlns:a16="http://schemas.microsoft.com/office/drawing/2014/main" id="{4A8527CC-8A7C-DE16-DD8D-369371507C38}"/>
              </a:ext>
            </a:extLst>
          </p:cNvPr>
          <p:cNvPicPr>
            <a:picLocks noChangeAspect="1"/>
          </p:cNvPicPr>
          <p:nvPr/>
        </p:nvPicPr>
        <p:blipFill>
          <a:blip r:embed="rId4"/>
          <a:stretch>
            <a:fillRect/>
          </a:stretch>
        </p:blipFill>
        <p:spPr>
          <a:xfrm>
            <a:off x="7213710" y="2603897"/>
            <a:ext cx="425276" cy="425276"/>
          </a:xfrm>
          <a:prstGeom prst="rect">
            <a:avLst/>
          </a:prstGeom>
        </p:spPr>
      </p:pic>
      <p:sp>
        <p:nvSpPr>
          <p:cNvPr id="25" name="Text 12">
            <a:extLst>
              <a:ext uri="{FF2B5EF4-FFF2-40B4-BE49-F238E27FC236}">
                <a16:creationId xmlns:a16="http://schemas.microsoft.com/office/drawing/2014/main" id="{B0BA7A5C-37D1-C192-0DB3-F1CEBCFCAFD7}"/>
              </a:ext>
            </a:extLst>
          </p:cNvPr>
          <p:cNvSpPr/>
          <p:nvPr/>
        </p:nvSpPr>
        <p:spPr>
          <a:xfrm>
            <a:off x="6275832" y="3170858"/>
            <a:ext cx="1772022" cy="221456"/>
          </a:xfrm>
          <a:prstGeom prst="rect">
            <a:avLst/>
          </a:prstGeom>
          <a:noFill/>
          <a:ln/>
        </p:spPr>
        <p:txBody>
          <a:bodyPr wrap="none" lIns="0" tIns="0" rIns="0" bIns="0" rtlCol="0" anchor="t"/>
          <a:lstStyle/>
          <a:p>
            <a:pPr marL="0" indent="0" algn="l">
              <a:lnSpc>
                <a:spcPts val="1700"/>
              </a:lnSpc>
              <a:buNone/>
            </a:pPr>
            <a:r>
              <a:rPr lang="en-US" sz="1400" dirty="0">
                <a:solidFill>
                  <a:srgbClr val="384653"/>
                </a:solidFill>
                <a:latin typeface="Host Grotesk Medium" pitchFamily="34" charset="0"/>
                <a:ea typeface="Host Grotesk Medium" pitchFamily="34" charset="-122"/>
                <a:cs typeface="Host Grotesk Medium" pitchFamily="34" charset="-120"/>
              </a:rPr>
              <a:t>Padding</a:t>
            </a:r>
            <a:endParaRPr lang="en-US" sz="1400" dirty="0"/>
          </a:p>
        </p:txBody>
      </p:sp>
      <p:sp>
        <p:nvSpPr>
          <p:cNvPr id="26" name="Text 13">
            <a:extLst>
              <a:ext uri="{FF2B5EF4-FFF2-40B4-BE49-F238E27FC236}">
                <a16:creationId xmlns:a16="http://schemas.microsoft.com/office/drawing/2014/main" id="{FD3BBCCF-746B-FB0C-3160-063D55878181}"/>
              </a:ext>
            </a:extLst>
          </p:cNvPr>
          <p:cNvSpPr/>
          <p:nvPr/>
        </p:nvSpPr>
        <p:spPr>
          <a:xfrm>
            <a:off x="6275832" y="3477369"/>
            <a:ext cx="2301106" cy="425202"/>
          </a:xfrm>
          <a:prstGeom prst="rect">
            <a:avLst/>
          </a:prstGeom>
          <a:noFill/>
          <a:ln/>
        </p:spPr>
        <p:txBody>
          <a:bodyPr wrap="square" lIns="0" tIns="0" rIns="0" bIns="0" rtlCol="0" anchor="t"/>
          <a:lstStyle/>
          <a:p>
            <a:pPr marL="0" indent="0" algn="l">
              <a:lnSpc>
                <a:spcPts val="1650"/>
              </a:lnSpc>
              <a:buNone/>
            </a:pPr>
            <a:r>
              <a:rPr lang="en-US" sz="1200" dirty="0">
                <a:solidFill>
                  <a:srgbClr val="384653"/>
                </a:solidFill>
                <a:latin typeface="Roboto" pitchFamily="34" charset="0"/>
                <a:ea typeface="Roboto" pitchFamily="34" charset="-122"/>
                <a:cs typeface="Roboto" pitchFamily="34" charset="-120"/>
              </a:rPr>
              <a:t>Zero-padding preserves edges and controls output dimensions.</a:t>
            </a:r>
            <a:endParaRPr lang="en-US" sz="1200" dirty="0"/>
          </a:p>
        </p:txBody>
      </p:sp>
      <p:sp>
        <p:nvSpPr>
          <p:cNvPr id="29" name="Rectangle: Rounded Corners 28">
            <a:extLst>
              <a:ext uri="{FF2B5EF4-FFF2-40B4-BE49-F238E27FC236}">
                <a16:creationId xmlns:a16="http://schemas.microsoft.com/office/drawing/2014/main" id="{C818BFB4-2F28-1248-6A0A-4250792EF296}"/>
              </a:ext>
            </a:extLst>
          </p:cNvPr>
          <p:cNvSpPr/>
          <p:nvPr/>
        </p:nvSpPr>
        <p:spPr>
          <a:xfrm>
            <a:off x="454835" y="2847196"/>
            <a:ext cx="2749093" cy="295542"/>
          </a:xfrm>
          <a:prstGeom prst="roundRect">
            <a:avLst/>
          </a:prstGeom>
          <a:solidFill>
            <a:srgbClr val="D9E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3">
            <a:extLst>
              <a:ext uri="{FF2B5EF4-FFF2-40B4-BE49-F238E27FC236}">
                <a16:creationId xmlns:a16="http://schemas.microsoft.com/office/drawing/2014/main" id="{774F579C-00A8-7A6B-101A-7337F702D15C}"/>
              </a:ext>
            </a:extLst>
          </p:cNvPr>
          <p:cNvSpPr/>
          <p:nvPr/>
        </p:nvSpPr>
        <p:spPr>
          <a:xfrm>
            <a:off x="1664581" y="2893886"/>
            <a:ext cx="170111" cy="212601"/>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Host Grotesk Medium" pitchFamily="34" charset="0"/>
                <a:ea typeface="Host Grotesk Medium" pitchFamily="34" charset="-122"/>
                <a:cs typeface="Host Grotesk Medium" pitchFamily="34" charset="-120"/>
              </a:rPr>
              <a:t>1</a:t>
            </a:r>
            <a:endParaRPr lang="en-US" sz="1400" dirty="0"/>
          </a:p>
        </p:txBody>
      </p:sp>
      <p:sp>
        <p:nvSpPr>
          <p:cNvPr id="30" name="Rectangle: Rounded Corners 29">
            <a:extLst>
              <a:ext uri="{FF2B5EF4-FFF2-40B4-BE49-F238E27FC236}">
                <a16:creationId xmlns:a16="http://schemas.microsoft.com/office/drawing/2014/main" id="{FE895F99-3ED2-05D5-BB5F-F9431D0C79FC}"/>
              </a:ext>
            </a:extLst>
          </p:cNvPr>
          <p:cNvSpPr/>
          <p:nvPr/>
        </p:nvSpPr>
        <p:spPr>
          <a:xfrm>
            <a:off x="3364737" y="2830530"/>
            <a:ext cx="2606131" cy="289620"/>
          </a:xfrm>
          <a:prstGeom prst="roundRect">
            <a:avLst/>
          </a:prstGeom>
          <a:solidFill>
            <a:srgbClr val="D9E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3">
            <a:extLst>
              <a:ext uri="{FF2B5EF4-FFF2-40B4-BE49-F238E27FC236}">
                <a16:creationId xmlns:a16="http://schemas.microsoft.com/office/drawing/2014/main" id="{88958C68-77C4-3764-9E03-E501CC3ADA00}"/>
              </a:ext>
            </a:extLst>
          </p:cNvPr>
          <p:cNvSpPr/>
          <p:nvPr/>
        </p:nvSpPr>
        <p:spPr>
          <a:xfrm>
            <a:off x="4574483" y="2877220"/>
            <a:ext cx="170111" cy="212601"/>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Host Grotesk Medium" pitchFamily="34" charset="0"/>
              </a:rPr>
              <a:t>2</a:t>
            </a:r>
            <a:endParaRPr lang="en-US" sz="1400" dirty="0"/>
          </a:p>
        </p:txBody>
      </p:sp>
      <p:sp>
        <p:nvSpPr>
          <p:cNvPr id="32" name="Rectangle: Rounded Corners 31">
            <a:extLst>
              <a:ext uri="{FF2B5EF4-FFF2-40B4-BE49-F238E27FC236}">
                <a16:creationId xmlns:a16="http://schemas.microsoft.com/office/drawing/2014/main" id="{5474DEF2-581D-237E-5AD7-6AFAB7EE291F}"/>
              </a:ext>
            </a:extLst>
          </p:cNvPr>
          <p:cNvSpPr/>
          <p:nvPr/>
        </p:nvSpPr>
        <p:spPr>
          <a:xfrm>
            <a:off x="6125219" y="2830530"/>
            <a:ext cx="2606131" cy="289620"/>
          </a:xfrm>
          <a:prstGeom prst="roundRect">
            <a:avLst/>
          </a:prstGeom>
          <a:solidFill>
            <a:srgbClr val="D9E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3">
            <a:extLst>
              <a:ext uri="{FF2B5EF4-FFF2-40B4-BE49-F238E27FC236}">
                <a16:creationId xmlns:a16="http://schemas.microsoft.com/office/drawing/2014/main" id="{8DE04642-9160-BBC4-867F-98CC0440825F}"/>
              </a:ext>
            </a:extLst>
          </p:cNvPr>
          <p:cNvSpPr/>
          <p:nvPr/>
        </p:nvSpPr>
        <p:spPr>
          <a:xfrm>
            <a:off x="7334965" y="2877220"/>
            <a:ext cx="170111" cy="212601"/>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Host Grotesk Medium" pitchFamily="34" charset="0"/>
              </a:rPr>
              <a:t>3</a:t>
            </a:r>
            <a:endParaRPr lang="en-US" sz="1400" dirty="0"/>
          </a:p>
        </p:txBody>
      </p:sp>
    </p:spTree>
    <p:extLst>
      <p:ext uri="{BB962C8B-B14F-4D97-AF65-F5344CB8AC3E}">
        <p14:creationId xmlns:p14="http://schemas.microsoft.com/office/powerpoint/2010/main" val="315289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9" name="Text 0">
            <a:extLst>
              <a:ext uri="{FF2B5EF4-FFF2-40B4-BE49-F238E27FC236}">
                <a16:creationId xmlns:a16="http://schemas.microsoft.com/office/drawing/2014/main" id="{C8CD5F13-61B2-F810-EA2C-3E1D93041CF8}"/>
              </a:ext>
            </a:extLst>
          </p:cNvPr>
          <p:cNvSpPr/>
          <p:nvPr/>
        </p:nvSpPr>
        <p:spPr>
          <a:xfrm>
            <a:off x="496119" y="614135"/>
            <a:ext cx="3608710" cy="265807"/>
          </a:xfrm>
          <a:prstGeom prst="rect">
            <a:avLst/>
          </a:prstGeom>
          <a:noFill/>
          <a:ln/>
        </p:spPr>
        <p:txBody>
          <a:bodyPr wrap="none" lIns="0" tIns="0" rIns="0" bIns="0" rtlCol="0" anchor="t"/>
          <a:lstStyle/>
          <a:p>
            <a:pPr marL="0" indent="0" algn="l">
              <a:lnSpc>
                <a:spcPts val="2050"/>
              </a:lnSpc>
              <a:buNone/>
            </a:pPr>
            <a:r>
              <a:rPr lang="en-US" sz="2200" dirty="0">
                <a:solidFill>
                  <a:srgbClr val="2E3C4E"/>
                </a:solidFill>
                <a:latin typeface="Host Grotesk Medium" panose="020B0604020202020204" charset="0"/>
                <a:ea typeface="Host Grotesk Medium" pitchFamily="34" charset="-122"/>
                <a:cs typeface="Host Grotesk Medium" pitchFamily="34" charset="-120"/>
              </a:rPr>
              <a:t>Convolutional Layer — Visual Intuition</a:t>
            </a:r>
            <a:endParaRPr lang="en-US" sz="2200" dirty="0">
              <a:latin typeface="Host Grotesk Medium" panose="020B0604020202020204" charset="0"/>
            </a:endParaRPr>
          </a:p>
        </p:txBody>
      </p:sp>
      <p:sp>
        <p:nvSpPr>
          <p:cNvPr id="10" name="Text 1">
            <a:extLst>
              <a:ext uri="{FF2B5EF4-FFF2-40B4-BE49-F238E27FC236}">
                <a16:creationId xmlns:a16="http://schemas.microsoft.com/office/drawing/2014/main" id="{86C668BD-83F5-37DF-4F7F-7C6EE1B9621E}"/>
              </a:ext>
            </a:extLst>
          </p:cNvPr>
          <p:cNvSpPr/>
          <p:nvPr/>
        </p:nvSpPr>
        <p:spPr>
          <a:xfrm>
            <a:off x="496120" y="962987"/>
            <a:ext cx="7088904" cy="498554"/>
          </a:xfrm>
          <a:prstGeom prst="rect">
            <a:avLst/>
          </a:prstGeom>
          <a:noFill/>
          <a:ln/>
        </p:spPr>
        <p:txBody>
          <a:bodyPr wrap="square" lIns="0" tIns="0" rIns="0" bIns="0" rtlCol="0" anchor="t"/>
          <a:lstStyle/>
          <a:p>
            <a:pPr marL="0" indent="0" algn="l">
              <a:lnSpc>
                <a:spcPts val="1050"/>
              </a:lnSpc>
              <a:buNone/>
            </a:pPr>
            <a:r>
              <a:rPr lang="en-US" sz="1200" dirty="0">
                <a:solidFill>
                  <a:srgbClr val="384653"/>
                </a:solidFill>
                <a:ea typeface="Roboto" pitchFamily="34" charset="-122"/>
                <a:cs typeface="Roboto" pitchFamily="34" charset="-120"/>
              </a:rPr>
              <a:t>Animated visualization illustrates how filters scan and extract structured responses from a 2D input tensor to form feature maps.</a:t>
            </a:r>
            <a:endParaRPr lang="en-US" sz="1200" dirty="0"/>
          </a:p>
        </p:txBody>
      </p:sp>
      <p:pic>
        <p:nvPicPr>
          <p:cNvPr id="4" name="Picture 3">
            <a:extLst>
              <a:ext uri="{FF2B5EF4-FFF2-40B4-BE49-F238E27FC236}">
                <a16:creationId xmlns:a16="http://schemas.microsoft.com/office/drawing/2014/main" id="{85DBD948-BA19-9DDA-4CC9-DE46AA1D27B5}"/>
              </a:ext>
            </a:extLst>
          </p:cNvPr>
          <p:cNvPicPr>
            <a:picLocks noChangeAspect="1"/>
          </p:cNvPicPr>
          <p:nvPr/>
        </p:nvPicPr>
        <p:blipFill>
          <a:blip r:embed="rId3"/>
          <a:stretch>
            <a:fillRect/>
          </a:stretch>
        </p:blipFill>
        <p:spPr>
          <a:xfrm>
            <a:off x="2410892" y="1138551"/>
            <a:ext cx="4160890" cy="36807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26" name="Shape 2">
            <a:extLst>
              <a:ext uri="{FF2B5EF4-FFF2-40B4-BE49-F238E27FC236}">
                <a16:creationId xmlns:a16="http://schemas.microsoft.com/office/drawing/2014/main" id="{7F854E37-6639-D82B-22CA-1630CF0E1961}"/>
              </a:ext>
            </a:extLst>
          </p:cNvPr>
          <p:cNvSpPr/>
          <p:nvPr/>
        </p:nvSpPr>
        <p:spPr>
          <a:xfrm>
            <a:off x="406175" y="2966320"/>
            <a:ext cx="4877855" cy="1459483"/>
          </a:xfrm>
          <a:prstGeom prst="roundRect">
            <a:avLst>
              <a:gd name="adj" fmla="val 6265"/>
            </a:avLst>
          </a:prstGeom>
          <a:solidFill>
            <a:srgbClr val="FAF9F5"/>
          </a:solidFill>
          <a:ln w="19050">
            <a:solidFill>
              <a:srgbClr val="BFD3D8"/>
            </a:solidFill>
            <a:prstDash val="solid"/>
          </a:ln>
        </p:spPr>
        <p:txBody>
          <a:bodyPr/>
          <a:lstStyle/>
          <a:p>
            <a:endParaRPr lang="en-US"/>
          </a:p>
        </p:txBody>
      </p:sp>
      <p:sp>
        <p:nvSpPr>
          <p:cNvPr id="25" name="Shape 2">
            <a:extLst>
              <a:ext uri="{FF2B5EF4-FFF2-40B4-BE49-F238E27FC236}">
                <a16:creationId xmlns:a16="http://schemas.microsoft.com/office/drawing/2014/main" id="{E4043239-9EF9-2EC0-28EF-435C489DAF40}"/>
              </a:ext>
            </a:extLst>
          </p:cNvPr>
          <p:cNvSpPr/>
          <p:nvPr/>
        </p:nvSpPr>
        <p:spPr>
          <a:xfrm>
            <a:off x="406174" y="1277377"/>
            <a:ext cx="4877855" cy="1518289"/>
          </a:xfrm>
          <a:prstGeom prst="roundRect">
            <a:avLst>
              <a:gd name="adj" fmla="val 6265"/>
            </a:avLst>
          </a:prstGeom>
          <a:solidFill>
            <a:srgbClr val="FAF9F5"/>
          </a:solidFill>
          <a:ln w="19050">
            <a:solidFill>
              <a:srgbClr val="BFD3D8"/>
            </a:solidFill>
            <a:prstDash val="solid"/>
          </a:ln>
        </p:spPr>
        <p:txBody>
          <a:bodyPr/>
          <a:lstStyle/>
          <a:p>
            <a:endParaRPr lang="en-US"/>
          </a:p>
        </p:txBody>
      </p:sp>
      <p:sp>
        <p:nvSpPr>
          <p:cNvPr id="6" name="Text 0">
            <a:extLst>
              <a:ext uri="{FF2B5EF4-FFF2-40B4-BE49-F238E27FC236}">
                <a16:creationId xmlns:a16="http://schemas.microsoft.com/office/drawing/2014/main" id="{578F0198-F65E-CCB0-B8AE-6B8D87A34A08}"/>
              </a:ext>
            </a:extLst>
          </p:cNvPr>
          <p:cNvSpPr/>
          <p:nvPr/>
        </p:nvSpPr>
        <p:spPr>
          <a:xfrm>
            <a:off x="526096" y="776794"/>
            <a:ext cx="3149947" cy="354360"/>
          </a:xfrm>
          <a:prstGeom prst="rect">
            <a:avLst/>
          </a:prstGeom>
          <a:noFill/>
          <a:ln/>
        </p:spPr>
        <p:txBody>
          <a:bodyPr wrap="none" lIns="0" tIns="0" rIns="0" bIns="0" rtlCol="0" anchor="t"/>
          <a:lstStyle/>
          <a:p>
            <a:pPr marL="0" indent="0" algn="l">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Activation Layer — ReLU</a:t>
            </a:r>
            <a:endParaRPr lang="en-US" sz="2200" dirty="0"/>
          </a:p>
        </p:txBody>
      </p:sp>
      <p:grpSp>
        <p:nvGrpSpPr>
          <p:cNvPr id="23" name="Group 22">
            <a:extLst>
              <a:ext uri="{FF2B5EF4-FFF2-40B4-BE49-F238E27FC236}">
                <a16:creationId xmlns:a16="http://schemas.microsoft.com/office/drawing/2014/main" id="{44BEEC3E-C7BB-085E-1EE1-59CA40757081}"/>
              </a:ext>
            </a:extLst>
          </p:cNvPr>
          <p:cNvGrpSpPr/>
          <p:nvPr/>
        </p:nvGrpSpPr>
        <p:grpSpPr>
          <a:xfrm>
            <a:off x="526097" y="1326586"/>
            <a:ext cx="2413695" cy="358351"/>
            <a:chOff x="496119" y="2551361"/>
            <a:chExt cx="2413695" cy="358351"/>
          </a:xfrm>
        </p:grpSpPr>
        <p:pic>
          <p:nvPicPr>
            <p:cNvPr id="8" name="Image 0" descr="preencoded.png">
              <a:extLst>
                <a:ext uri="{FF2B5EF4-FFF2-40B4-BE49-F238E27FC236}">
                  <a16:creationId xmlns:a16="http://schemas.microsoft.com/office/drawing/2014/main" id="{BC29F5A0-271F-0435-AF4E-D1FA6E273D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551361"/>
              <a:ext cx="354360" cy="354360"/>
            </a:xfrm>
            <a:prstGeom prst="rect">
              <a:avLst/>
            </a:prstGeom>
          </p:spPr>
        </p:pic>
        <p:sp>
          <p:nvSpPr>
            <p:cNvPr id="9" name="Text 2">
              <a:extLst>
                <a:ext uri="{FF2B5EF4-FFF2-40B4-BE49-F238E27FC236}">
                  <a16:creationId xmlns:a16="http://schemas.microsoft.com/office/drawing/2014/main" id="{A630BB13-14D2-6617-BBF1-B18B5F190D51}"/>
                </a:ext>
              </a:extLst>
            </p:cNvPr>
            <p:cNvSpPr/>
            <p:nvPr/>
          </p:nvSpPr>
          <p:spPr>
            <a:xfrm>
              <a:off x="953319" y="2688256"/>
              <a:ext cx="1956495" cy="221456"/>
            </a:xfrm>
            <a:prstGeom prst="rect">
              <a:avLst/>
            </a:prstGeom>
            <a:noFill/>
            <a:ln/>
          </p:spPr>
          <p:txBody>
            <a:bodyPr wrap="none" lIns="0" tIns="0" rIns="0" bIns="0" rtlCol="0" anchor="t"/>
            <a:lstStyle/>
            <a:p>
              <a:pPr marL="0" indent="0" algn="l">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Operation</a:t>
              </a:r>
              <a:endParaRPr lang="en-US" sz="1350" dirty="0"/>
            </a:p>
          </p:txBody>
        </p:sp>
      </p:grpSp>
      <p:sp>
        <p:nvSpPr>
          <p:cNvPr id="10" name="Text 3">
            <a:extLst>
              <a:ext uri="{FF2B5EF4-FFF2-40B4-BE49-F238E27FC236}">
                <a16:creationId xmlns:a16="http://schemas.microsoft.com/office/drawing/2014/main" id="{3AF59AFB-3531-0824-6147-669A84DC5DA9}"/>
              </a:ext>
            </a:extLst>
          </p:cNvPr>
          <p:cNvSpPr/>
          <p:nvPr/>
        </p:nvSpPr>
        <p:spPr>
          <a:xfrm>
            <a:off x="526096" y="1787615"/>
            <a:ext cx="4413161" cy="949246"/>
          </a:xfrm>
          <a:prstGeom prst="rect">
            <a:avLst/>
          </a:prstGeom>
          <a:noFill/>
          <a:ln/>
        </p:spPr>
        <p:txBody>
          <a:bodyPr wrap="square" lIns="0" tIns="0" rIns="0" bIns="0" rtlCol="0" anchor="t"/>
          <a:lstStyle/>
          <a:p>
            <a:pPr>
              <a:lnSpc>
                <a:spcPts val="1650"/>
              </a:lnSpc>
            </a:pPr>
            <a:r>
              <a:rPr lang="en-US" sz="1100" dirty="0" err="1">
                <a:solidFill>
                  <a:srgbClr val="384653"/>
                </a:solidFill>
                <a:latin typeface="Roboto" pitchFamily="34" charset="0"/>
                <a:ea typeface="Roboto" pitchFamily="34" charset="-122"/>
                <a:cs typeface="Roboto" pitchFamily="34" charset="-120"/>
              </a:rPr>
              <a:t>ReLU</a:t>
            </a:r>
            <a:r>
              <a:rPr lang="en-US" sz="1100" dirty="0">
                <a:solidFill>
                  <a:srgbClr val="384653"/>
                </a:solidFill>
                <a:latin typeface="Roboto" pitchFamily="34" charset="0"/>
                <a:ea typeface="Roboto" pitchFamily="34" charset="-122"/>
                <a:cs typeface="Roboto" pitchFamily="34" charset="-120"/>
              </a:rPr>
              <a:t> (Rectified Linear Unit) introduces non-linearity to the network by:</a:t>
            </a:r>
          </a:p>
          <a:p>
            <a:pPr marL="171450" indent="-171450">
              <a:lnSpc>
                <a:spcPts val="1650"/>
              </a:lnSpc>
              <a:buFont typeface="Arial" panose="020B0604020202020204" pitchFamily="34" charset="0"/>
              <a:buChar char="•"/>
            </a:pPr>
            <a:r>
              <a:rPr lang="en-US" sz="1100" dirty="0">
                <a:solidFill>
                  <a:srgbClr val="384653"/>
                </a:solidFill>
                <a:latin typeface="Roboto" pitchFamily="34" charset="0"/>
                <a:ea typeface="Roboto" pitchFamily="34" charset="-122"/>
                <a:cs typeface="Roboto" pitchFamily="34" charset="-120"/>
              </a:rPr>
              <a:t>performing element wise operations </a:t>
            </a:r>
          </a:p>
          <a:p>
            <a:pPr marL="171450" indent="-171450">
              <a:lnSpc>
                <a:spcPts val="1650"/>
              </a:lnSpc>
              <a:buFont typeface="Arial" panose="020B0604020202020204" pitchFamily="34" charset="0"/>
              <a:buChar char="•"/>
            </a:pPr>
            <a:r>
              <a:rPr lang="en-US" sz="1100" dirty="0">
                <a:solidFill>
                  <a:srgbClr val="384653"/>
                </a:solidFill>
                <a:latin typeface="Roboto" pitchFamily="34" charset="0"/>
                <a:ea typeface="Roboto" pitchFamily="34" charset="-122"/>
                <a:cs typeface="Roboto" pitchFamily="34" charset="-120"/>
              </a:rPr>
              <a:t>setting all negative pixels to zero</a:t>
            </a:r>
          </a:p>
          <a:p>
            <a:pPr marL="171450" indent="-171450">
              <a:lnSpc>
                <a:spcPts val="1650"/>
              </a:lnSpc>
              <a:buFont typeface="Arial" panose="020B0604020202020204" pitchFamily="34" charset="0"/>
              <a:buChar char="•"/>
            </a:pPr>
            <a:r>
              <a:rPr lang="en-US" sz="1100" dirty="0">
                <a:solidFill>
                  <a:srgbClr val="384653"/>
                </a:solidFill>
                <a:latin typeface="Roboto" pitchFamily="34" charset="0"/>
                <a:ea typeface="Roboto" pitchFamily="34" charset="-122"/>
                <a:cs typeface="Roboto" pitchFamily="34" charset="-120"/>
              </a:rPr>
              <a:t>output the rectified feature map</a:t>
            </a:r>
          </a:p>
          <a:p>
            <a:pPr>
              <a:lnSpc>
                <a:spcPts val="1650"/>
              </a:lnSpc>
            </a:pPr>
            <a:endParaRPr lang="en-US" sz="1100" dirty="0"/>
          </a:p>
        </p:txBody>
      </p:sp>
      <p:grpSp>
        <p:nvGrpSpPr>
          <p:cNvPr id="24" name="Group 23">
            <a:extLst>
              <a:ext uri="{FF2B5EF4-FFF2-40B4-BE49-F238E27FC236}">
                <a16:creationId xmlns:a16="http://schemas.microsoft.com/office/drawing/2014/main" id="{7ACCDF74-33ED-582A-3EC3-F571CEACD015}"/>
              </a:ext>
            </a:extLst>
          </p:cNvPr>
          <p:cNvGrpSpPr/>
          <p:nvPr/>
        </p:nvGrpSpPr>
        <p:grpSpPr>
          <a:xfrm>
            <a:off x="526098" y="3036712"/>
            <a:ext cx="2229223" cy="354360"/>
            <a:chOff x="496117" y="3240298"/>
            <a:chExt cx="2229223" cy="354360"/>
          </a:xfrm>
        </p:grpSpPr>
        <p:pic>
          <p:nvPicPr>
            <p:cNvPr id="11" name="Image 1" descr="preencoded.png">
              <a:extLst>
                <a:ext uri="{FF2B5EF4-FFF2-40B4-BE49-F238E27FC236}">
                  <a16:creationId xmlns:a16="http://schemas.microsoft.com/office/drawing/2014/main" id="{E819F00B-F236-2B5D-4C6F-9D5D56A55A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7" y="3240298"/>
              <a:ext cx="354360" cy="354360"/>
            </a:xfrm>
            <a:prstGeom prst="rect">
              <a:avLst/>
            </a:prstGeom>
          </p:spPr>
        </p:pic>
        <p:sp>
          <p:nvSpPr>
            <p:cNvPr id="12" name="Text 4">
              <a:extLst>
                <a:ext uri="{FF2B5EF4-FFF2-40B4-BE49-F238E27FC236}">
                  <a16:creationId xmlns:a16="http://schemas.microsoft.com/office/drawing/2014/main" id="{B7FD9C23-1D1B-18B5-740D-166E6491A0E3}"/>
                </a:ext>
              </a:extLst>
            </p:cNvPr>
            <p:cNvSpPr/>
            <p:nvPr/>
          </p:nvSpPr>
          <p:spPr>
            <a:xfrm>
              <a:off x="953318" y="3358212"/>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Training Benefits</a:t>
              </a:r>
              <a:endParaRPr lang="en-US" sz="1350" dirty="0"/>
            </a:p>
          </p:txBody>
        </p:sp>
      </p:grpSp>
      <p:sp>
        <p:nvSpPr>
          <p:cNvPr id="13" name="Text 5">
            <a:extLst>
              <a:ext uri="{FF2B5EF4-FFF2-40B4-BE49-F238E27FC236}">
                <a16:creationId xmlns:a16="http://schemas.microsoft.com/office/drawing/2014/main" id="{0F4F329A-F9CE-760B-DF2D-16C6CB573ABB}"/>
              </a:ext>
            </a:extLst>
          </p:cNvPr>
          <p:cNvSpPr/>
          <p:nvPr/>
        </p:nvSpPr>
        <p:spPr>
          <a:xfrm>
            <a:off x="526098" y="3493123"/>
            <a:ext cx="4525588" cy="814719"/>
          </a:xfrm>
          <a:prstGeom prst="rect">
            <a:avLst/>
          </a:prstGeom>
          <a:noFill/>
          <a:ln/>
        </p:spPr>
        <p:txBody>
          <a:bodyPr wrap="square" lIns="0" tIns="0" rIns="0" bIns="0" rtlCol="0" anchor="t"/>
          <a:lstStyle/>
          <a:p>
            <a:pPr marL="0" indent="0" algn="l">
              <a:lnSpc>
                <a:spcPts val="1650"/>
              </a:lnSpc>
              <a:buNone/>
            </a:pPr>
            <a:r>
              <a:rPr lang="en-US" sz="1100" dirty="0">
                <a:solidFill>
                  <a:srgbClr val="384653"/>
                </a:solidFill>
                <a:latin typeface="Roboto" pitchFamily="34" charset="0"/>
                <a:ea typeface="Roboto" pitchFamily="34" charset="-122"/>
                <a:cs typeface="Roboto" pitchFamily="34" charset="-120"/>
              </a:rPr>
              <a:t>Activation functions play a vital role in preventing issues like vanishing gradients during the backpropagation training process, ensuring that learning signals can effectively propagate through deep networks</a:t>
            </a:r>
          </a:p>
        </p:txBody>
      </p:sp>
      <p:pic>
        <p:nvPicPr>
          <p:cNvPr id="2" name="Image 0" descr="preencoded.png">
            <a:extLst>
              <a:ext uri="{FF2B5EF4-FFF2-40B4-BE49-F238E27FC236}">
                <a16:creationId xmlns:a16="http://schemas.microsoft.com/office/drawing/2014/main" id="{70C59821-83ED-B1D9-6CB9-C65A5FEBE2B3}"/>
              </a:ext>
            </a:extLst>
          </p:cNvPr>
          <p:cNvPicPr>
            <a:picLocks noChangeAspect="1"/>
          </p:cNvPicPr>
          <p:nvPr/>
        </p:nvPicPr>
        <p:blipFill>
          <a:blip r:embed="rId5"/>
          <a:stretch>
            <a:fillRect/>
          </a:stretch>
        </p:blipFill>
        <p:spPr>
          <a:xfrm>
            <a:off x="5543550" y="0"/>
            <a:ext cx="360045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6" name="Text 0">
            <a:extLst>
              <a:ext uri="{FF2B5EF4-FFF2-40B4-BE49-F238E27FC236}">
                <a16:creationId xmlns:a16="http://schemas.microsoft.com/office/drawing/2014/main" id="{5DA09075-D2E9-0C80-8C9F-54C17ED572D6}"/>
              </a:ext>
            </a:extLst>
          </p:cNvPr>
          <p:cNvSpPr/>
          <p:nvPr/>
        </p:nvSpPr>
        <p:spPr>
          <a:xfrm>
            <a:off x="496119" y="603945"/>
            <a:ext cx="5003378" cy="354360"/>
          </a:xfrm>
          <a:prstGeom prst="rect">
            <a:avLst/>
          </a:prstGeom>
          <a:noFill/>
          <a:ln/>
        </p:spPr>
        <p:txBody>
          <a:bodyPr wrap="none" lIns="0" tIns="0" rIns="0" bIns="0" rtlCol="0" anchor="t"/>
          <a:lstStyle/>
          <a:p>
            <a:pPr marL="0" indent="0" algn="l">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Max Pooling — Mechanism &amp; Examples</a:t>
            </a:r>
            <a:endParaRPr lang="en-US" sz="2200" dirty="0"/>
          </a:p>
        </p:txBody>
      </p:sp>
      <p:sp>
        <p:nvSpPr>
          <p:cNvPr id="7" name="Text 1">
            <a:extLst>
              <a:ext uri="{FF2B5EF4-FFF2-40B4-BE49-F238E27FC236}">
                <a16:creationId xmlns:a16="http://schemas.microsoft.com/office/drawing/2014/main" id="{C033878E-130C-0271-FC57-E4D23184332B}"/>
              </a:ext>
            </a:extLst>
          </p:cNvPr>
          <p:cNvSpPr/>
          <p:nvPr/>
        </p:nvSpPr>
        <p:spPr>
          <a:xfrm>
            <a:off x="496119" y="1117774"/>
            <a:ext cx="7456164" cy="425202"/>
          </a:xfrm>
          <a:prstGeom prst="rect">
            <a:avLst/>
          </a:prstGeom>
          <a:noFill/>
          <a:ln/>
        </p:spPr>
        <p:txBody>
          <a:bodyPr wrap="square" lIns="0" tIns="0" rIns="0" bIns="0" rtlCol="0" anchor="t"/>
          <a:lstStyle/>
          <a:p>
            <a:pPr>
              <a:lnSpc>
                <a:spcPts val="1650"/>
              </a:lnSpc>
            </a:pPr>
            <a:r>
              <a:rPr lang="en-US" sz="1100" dirty="0">
                <a:solidFill>
                  <a:srgbClr val="384653"/>
                </a:solidFill>
                <a:latin typeface="Roboto" pitchFamily="34" charset="0"/>
                <a:ea typeface="Roboto" pitchFamily="34" charset="-122"/>
                <a:cs typeface="Roboto" pitchFamily="34" charset="-120"/>
              </a:rPr>
              <a:t>Max pooling selects the maximum value in each local region. It reduces spatial size while retaining salient information. This lowers computations, reduces overfitting risk, and makes features robust to small shifts and distortions in input</a:t>
            </a:r>
            <a:endParaRPr lang="en-US" sz="1100" dirty="0"/>
          </a:p>
        </p:txBody>
      </p:sp>
      <p:pic>
        <p:nvPicPr>
          <p:cNvPr id="8" name="Image 0" descr="preencoded.png">
            <a:extLst>
              <a:ext uri="{FF2B5EF4-FFF2-40B4-BE49-F238E27FC236}">
                <a16:creationId xmlns:a16="http://schemas.microsoft.com/office/drawing/2014/main" id="{C4D0B870-E3C8-A242-D23B-87BC9E1479D3}"/>
              </a:ext>
            </a:extLst>
          </p:cNvPr>
          <p:cNvPicPr>
            <a:picLocks noChangeAspect="1"/>
          </p:cNvPicPr>
          <p:nvPr/>
        </p:nvPicPr>
        <p:blipFill>
          <a:blip r:embed="rId3"/>
          <a:stretch>
            <a:fillRect/>
          </a:stretch>
        </p:blipFill>
        <p:spPr>
          <a:xfrm>
            <a:off x="496119" y="1985963"/>
            <a:ext cx="3902943" cy="1866007"/>
          </a:xfrm>
          <a:prstGeom prst="rect">
            <a:avLst/>
          </a:prstGeom>
        </p:spPr>
      </p:pic>
      <p:pic>
        <p:nvPicPr>
          <p:cNvPr id="9" name="Image 1">
            <a:extLst>
              <a:ext uri="{FF2B5EF4-FFF2-40B4-BE49-F238E27FC236}">
                <a16:creationId xmlns:a16="http://schemas.microsoft.com/office/drawing/2014/main" id="{782546A1-16AA-77F3-EC00-617D7F78A7D5}"/>
              </a:ext>
            </a:extLst>
          </p:cNvPr>
          <p:cNvPicPr>
            <a:picLocks noChangeAspect="1"/>
          </p:cNvPicPr>
          <p:nvPr/>
        </p:nvPicPr>
        <p:blipFill>
          <a:blip r:embed="rId4"/>
          <a:srcRect/>
          <a:stretch/>
        </p:blipFill>
        <p:spPr>
          <a:xfrm>
            <a:off x="4542020" y="1845831"/>
            <a:ext cx="4242216" cy="1983654"/>
          </a:xfrm>
          <a:prstGeom prst="rect">
            <a:avLst/>
          </a:prstGeom>
        </p:spPr>
      </p:pic>
      <p:sp>
        <p:nvSpPr>
          <p:cNvPr id="10" name="Text 2">
            <a:extLst>
              <a:ext uri="{FF2B5EF4-FFF2-40B4-BE49-F238E27FC236}">
                <a16:creationId xmlns:a16="http://schemas.microsoft.com/office/drawing/2014/main" id="{14BBBE39-9A89-C9DF-0BB4-B4337D6C99B0}"/>
              </a:ext>
            </a:extLst>
          </p:cNvPr>
          <p:cNvSpPr/>
          <p:nvPr/>
        </p:nvSpPr>
        <p:spPr>
          <a:xfrm>
            <a:off x="4749701" y="3774207"/>
            <a:ext cx="3902943" cy="637803"/>
          </a:xfrm>
          <a:prstGeom prst="rect">
            <a:avLst/>
          </a:prstGeom>
          <a:noFill/>
          <a:ln/>
        </p:spPr>
        <p:txBody>
          <a:bodyPr wrap="square" lIns="0" tIns="0" rIns="0" bIns="0" rtlCol="0" anchor="t"/>
          <a:lstStyle/>
          <a:p>
            <a:pPr marL="0" indent="0" algn="l">
              <a:lnSpc>
                <a:spcPts val="1650"/>
              </a:lnSpc>
              <a:buNone/>
            </a:pPr>
            <a:r>
              <a:rPr lang="en-US" sz="1100" dirty="0">
                <a:solidFill>
                  <a:srgbClr val="384653"/>
                </a:solidFill>
                <a:latin typeface="Roboto" pitchFamily="34" charset="0"/>
                <a:ea typeface="Roboto" pitchFamily="34" charset="-122"/>
                <a:cs typeface="Roboto" pitchFamily="34" charset="-120"/>
              </a:rPr>
              <a:t>Example: 2×2 max-pool reduces a 4×4 patch to one value per 2×2 region (see matrix example). No parameters; use selectively after conv blocks.</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6" name="Image 0">
            <a:extLst>
              <a:ext uri="{FF2B5EF4-FFF2-40B4-BE49-F238E27FC236}">
                <a16:creationId xmlns:a16="http://schemas.microsoft.com/office/drawing/2014/main" id="{875A23EF-AA1D-31CB-36CB-B59BCA3BA953}"/>
              </a:ext>
            </a:extLst>
          </p:cNvPr>
          <p:cNvPicPr>
            <a:picLocks noChangeAspect="1"/>
          </p:cNvPicPr>
          <p:nvPr/>
        </p:nvPicPr>
        <p:blipFill>
          <a:blip r:embed="rId3"/>
          <a:srcRect/>
          <a:stretch/>
        </p:blipFill>
        <p:spPr>
          <a:xfrm>
            <a:off x="5564462" y="0"/>
            <a:ext cx="3558626" cy="5143500"/>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C1E64DC9-1B94-3D1A-C6C6-074544C30495}"/>
                  </a:ext>
                </a:extLst>
              </p14:cNvPr>
              <p14:cNvContentPartPr/>
              <p14:nvPr/>
            </p14:nvContentPartPr>
            <p14:xfrm>
              <a:off x="5778490" y="4594214"/>
              <a:ext cx="360" cy="239040"/>
            </p14:xfrm>
          </p:contentPart>
        </mc:Choice>
        <mc:Fallback xmlns="">
          <p:pic>
            <p:nvPicPr>
              <p:cNvPr id="11" name="Ink 10">
                <a:extLst>
                  <a:ext uri="{FF2B5EF4-FFF2-40B4-BE49-F238E27FC236}">
                    <a16:creationId xmlns:a16="http://schemas.microsoft.com/office/drawing/2014/main" id="{C1E64DC9-1B94-3D1A-C6C6-074544C30495}"/>
                  </a:ext>
                </a:extLst>
              </p:cNvPr>
              <p:cNvPicPr/>
              <p:nvPr/>
            </p:nvPicPr>
            <p:blipFill>
              <a:blip r:embed="rId5"/>
              <a:stretch>
                <a:fillRect/>
              </a:stretch>
            </p:blipFill>
            <p:spPr>
              <a:xfrm>
                <a:off x="5760490" y="4576574"/>
                <a:ext cx="360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2F64314F-60F6-2220-D932-0130880AE52D}"/>
                  </a:ext>
                </a:extLst>
              </p14:cNvPr>
              <p14:cNvContentPartPr/>
              <p14:nvPr/>
            </p14:nvContentPartPr>
            <p14:xfrm>
              <a:off x="5771290" y="4475054"/>
              <a:ext cx="82800" cy="461880"/>
            </p14:xfrm>
          </p:contentPart>
        </mc:Choice>
        <mc:Fallback xmlns="">
          <p:pic>
            <p:nvPicPr>
              <p:cNvPr id="12" name="Ink 11">
                <a:extLst>
                  <a:ext uri="{FF2B5EF4-FFF2-40B4-BE49-F238E27FC236}">
                    <a16:creationId xmlns:a16="http://schemas.microsoft.com/office/drawing/2014/main" id="{2F64314F-60F6-2220-D932-0130880AE52D}"/>
                  </a:ext>
                </a:extLst>
              </p:cNvPr>
              <p:cNvPicPr/>
              <p:nvPr/>
            </p:nvPicPr>
            <p:blipFill>
              <a:blip r:embed="rId7"/>
              <a:stretch>
                <a:fillRect/>
              </a:stretch>
            </p:blipFill>
            <p:spPr>
              <a:xfrm>
                <a:off x="5753650" y="4457054"/>
                <a:ext cx="11844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35A20A46-E32A-B3FC-499D-6C2C748507B7}"/>
                  </a:ext>
                </a:extLst>
              </p14:cNvPr>
              <p14:cNvContentPartPr/>
              <p14:nvPr/>
            </p14:nvContentPartPr>
            <p14:xfrm>
              <a:off x="5666170" y="4765934"/>
              <a:ext cx="92160" cy="136800"/>
            </p14:xfrm>
          </p:contentPart>
        </mc:Choice>
        <mc:Fallback xmlns="">
          <p:pic>
            <p:nvPicPr>
              <p:cNvPr id="13" name="Ink 12">
                <a:extLst>
                  <a:ext uri="{FF2B5EF4-FFF2-40B4-BE49-F238E27FC236}">
                    <a16:creationId xmlns:a16="http://schemas.microsoft.com/office/drawing/2014/main" id="{35A20A46-E32A-B3FC-499D-6C2C748507B7}"/>
                  </a:ext>
                </a:extLst>
              </p:cNvPr>
              <p:cNvPicPr/>
              <p:nvPr/>
            </p:nvPicPr>
            <p:blipFill>
              <a:blip r:embed="rId9"/>
              <a:stretch>
                <a:fillRect/>
              </a:stretch>
            </p:blipFill>
            <p:spPr>
              <a:xfrm>
                <a:off x="5648530" y="4747934"/>
                <a:ext cx="1278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DB482048-EB65-7674-C7DB-814DE1DA329F}"/>
                  </a:ext>
                </a:extLst>
              </p14:cNvPr>
              <p14:cNvContentPartPr/>
              <p14:nvPr/>
            </p14:nvContentPartPr>
            <p14:xfrm>
              <a:off x="5576170" y="4811294"/>
              <a:ext cx="44640" cy="360"/>
            </p14:xfrm>
          </p:contentPart>
        </mc:Choice>
        <mc:Fallback xmlns="">
          <p:pic>
            <p:nvPicPr>
              <p:cNvPr id="14" name="Ink 13">
                <a:extLst>
                  <a:ext uri="{FF2B5EF4-FFF2-40B4-BE49-F238E27FC236}">
                    <a16:creationId xmlns:a16="http://schemas.microsoft.com/office/drawing/2014/main" id="{DB482048-EB65-7674-C7DB-814DE1DA329F}"/>
                  </a:ext>
                </a:extLst>
              </p:cNvPr>
              <p:cNvPicPr/>
              <p:nvPr/>
            </p:nvPicPr>
            <p:blipFill>
              <a:blip r:embed="rId11"/>
              <a:stretch>
                <a:fillRect/>
              </a:stretch>
            </p:blipFill>
            <p:spPr>
              <a:xfrm>
                <a:off x="5558530" y="4793654"/>
                <a:ext cx="802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EE1D8BCF-6D78-A301-05DE-3CB1AF67C4E4}"/>
                  </a:ext>
                </a:extLst>
              </p14:cNvPr>
              <p14:cNvContentPartPr/>
              <p14:nvPr/>
            </p14:nvContentPartPr>
            <p14:xfrm>
              <a:off x="5672550" y="2743604"/>
              <a:ext cx="54360" cy="132120"/>
            </p14:xfrm>
          </p:contentPart>
        </mc:Choice>
        <mc:Fallback xmlns="">
          <p:pic>
            <p:nvPicPr>
              <p:cNvPr id="15" name="Ink 14">
                <a:extLst>
                  <a:ext uri="{FF2B5EF4-FFF2-40B4-BE49-F238E27FC236}">
                    <a16:creationId xmlns:a16="http://schemas.microsoft.com/office/drawing/2014/main" id="{EE1D8BCF-6D78-A301-05DE-3CB1AF67C4E4}"/>
                  </a:ext>
                </a:extLst>
              </p:cNvPr>
              <p:cNvPicPr/>
              <p:nvPr/>
            </p:nvPicPr>
            <p:blipFill>
              <a:blip r:embed="rId13"/>
              <a:stretch>
                <a:fillRect/>
              </a:stretch>
            </p:blipFill>
            <p:spPr>
              <a:xfrm>
                <a:off x="5654910" y="2725604"/>
                <a:ext cx="900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9022E141-172B-A668-373A-BA2E553B13AB}"/>
                  </a:ext>
                </a:extLst>
              </p14:cNvPr>
              <p14:cNvContentPartPr/>
              <p14:nvPr/>
            </p14:nvContentPartPr>
            <p14:xfrm>
              <a:off x="5620350" y="2744684"/>
              <a:ext cx="13680" cy="53280"/>
            </p14:xfrm>
          </p:contentPart>
        </mc:Choice>
        <mc:Fallback xmlns="">
          <p:pic>
            <p:nvPicPr>
              <p:cNvPr id="16" name="Ink 15">
                <a:extLst>
                  <a:ext uri="{FF2B5EF4-FFF2-40B4-BE49-F238E27FC236}">
                    <a16:creationId xmlns:a16="http://schemas.microsoft.com/office/drawing/2014/main" id="{9022E141-172B-A668-373A-BA2E553B13AB}"/>
                  </a:ext>
                </a:extLst>
              </p:cNvPr>
              <p:cNvPicPr/>
              <p:nvPr/>
            </p:nvPicPr>
            <p:blipFill>
              <a:blip r:embed="rId15"/>
              <a:stretch>
                <a:fillRect/>
              </a:stretch>
            </p:blipFill>
            <p:spPr>
              <a:xfrm>
                <a:off x="5602350" y="2726684"/>
                <a:ext cx="493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A569808D-918F-EE0C-97ED-F9EB630AC1AD}"/>
                  </a:ext>
                </a:extLst>
              </p14:cNvPr>
              <p14:cNvContentPartPr/>
              <p14:nvPr/>
            </p14:nvContentPartPr>
            <p14:xfrm>
              <a:off x="5659590" y="2802644"/>
              <a:ext cx="29520" cy="223560"/>
            </p14:xfrm>
          </p:contentPart>
        </mc:Choice>
        <mc:Fallback xmlns="">
          <p:pic>
            <p:nvPicPr>
              <p:cNvPr id="17" name="Ink 16">
                <a:extLst>
                  <a:ext uri="{FF2B5EF4-FFF2-40B4-BE49-F238E27FC236}">
                    <a16:creationId xmlns:a16="http://schemas.microsoft.com/office/drawing/2014/main" id="{A569808D-918F-EE0C-97ED-F9EB630AC1AD}"/>
                  </a:ext>
                </a:extLst>
              </p:cNvPr>
              <p:cNvPicPr/>
              <p:nvPr/>
            </p:nvPicPr>
            <p:blipFill>
              <a:blip r:embed="rId17"/>
              <a:stretch>
                <a:fillRect/>
              </a:stretch>
            </p:blipFill>
            <p:spPr>
              <a:xfrm>
                <a:off x="5641950" y="2785004"/>
                <a:ext cx="6516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012088AE-AA11-0154-8470-7BE3894240D0}"/>
                  </a:ext>
                </a:extLst>
              </p14:cNvPr>
              <p14:cNvContentPartPr/>
              <p14:nvPr/>
            </p14:nvContentPartPr>
            <p14:xfrm>
              <a:off x="5538630" y="2635604"/>
              <a:ext cx="135000" cy="194400"/>
            </p14:xfrm>
          </p:contentPart>
        </mc:Choice>
        <mc:Fallback xmlns="">
          <p:pic>
            <p:nvPicPr>
              <p:cNvPr id="18" name="Ink 17">
                <a:extLst>
                  <a:ext uri="{FF2B5EF4-FFF2-40B4-BE49-F238E27FC236}">
                    <a16:creationId xmlns:a16="http://schemas.microsoft.com/office/drawing/2014/main" id="{012088AE-AA11-0154-8470-7BE3894240D0}"/>
                  </a:ext>
                </a:extLst>
              </p:cNvPr>
              <p:cNvPicPr/>
              <p:nvPr/>
            </p:nvPicPr>
            <p:blipFill>
              <a:blip r:embed="rId19"/>
              <a:stretch>
                <a:fillRect/>
              </a:stretch>
            </p:blipFill>
            <p:spPr>
              <a:xfrm>
                <a:off x="5520990" y="2617964"/>
                <a:ext cx="17064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3E05641D-2E1D-A778-6E89-D2DFD5636FDA}"/>
                  </a:ext>
                </a:extLst>
              </p14:cNvPr>
              <p14:cNvContentPartPr/>
              <p14:nvPr/>
            </p14:nvContentPartPr>
            <p14:xfrm>
              <a:off x="5643490" y="778934"/>
              <a:ext cx="15480" cy="158760"/>
            </p14:xfrm>
          </p:contentPart>
        </mc:Choice>
        <mc:Fallback xmlns="">
          <p:pic>
            <p:nvPicPr>
              <p:cNvPr id="19" name="Ink 18">
                <a:extLst>
                  <a:ext uri="{FF2B5EF4-FFF2-40B4-BE49-F238E27FC236}">
                    <a16:creationId xmlns:a16="http://schemas.microsoft.com/office/drawing/2014/main" id="{3E05641D-2E1D-A778-6E89-D2DFD5636FDA}"/>
                  </a:ext>
                </a:extLst>
              </p:cNvPr>
              <p:cNvPicPr/>
              <p:nvPr/>
            </p:nvPicPr>
            <p:blipFill>
              <a:blip r:embed="rId21"/>
              <a:stretch>
                <a:fillRect/>
              </a:stretch>
            </p:blipFill>
            <p:spPr>
              <a:xfrm>
                <a:off x="5625850" y="760934"/>
                <a:ext cx="511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2EE425C5-8EC2-7738-F565-3C3DCDDA9A79}"/>
                  </a:ext>
                </a:extLst>
              </p14:cNvPr>
              <p14:cNvContentPartPr/>
              <p14:nvPr/>
            </p14:nvContentPartPr>
            <p14:xfrm>
              <a:off x="5567530" y="796574"/>
              <a:ext cx="84240" cy="93960"/>
            </p14:xfrm>
          </p:contentPart>
        </mc:Choice>
        <mc:Fallback xmlns="">
          <p:pic>
            <p:nvPicPr>
              <p:cNvPr id="20" name="Ink 19">
                <a:extLst>
                  <a:ext uri="{FF2B5EF4-FFF2-40B4-BE49-F238E27FC236}">
                    <a16:creationId xmlns:a16="http://schemas.microsoft.com/office/drawing/2014/main" id="{2EE425C5-8EC2-7738-F565-3C3DCDDA9A79}"/>
                  </a:ext>
                </a:extLst>
              </p:cNvPr>
              <p:cNvPicPr/>
              <p:nvPr/>
            </p:nvPicPr>
            <p:blipFill>
              <a:blip r:embed="rId23"/>
              <a:stretch>
                <a:fillRect/>
              </a:stretch>
            </p:blipFill>
            <p:spPr>
              <a:xfrm>
                <a:off x="5549890" y="778934"/>
                <a:ext cx="1198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40FBFCC4-00F3-79A2-99D5-D63DCAF1CAE4}"/>
                  </a:ext>
                </a:extLst>
              </p14:cNvPr>
              <p14:cNvContentPartPr/>
              <p14:nvPr/>
            </p14:nvContentPartPr>
            <p14:xfrm>
              <a:off x="5606050" y="667334"/>
              <a:ext cx="47160" cy="149760"/>
            </p14:xfrm>
          </p:contentPart>
        </mc:Choice>
        <mc:Fallback xmlns="">
          <p:pic>
            <p:nvPicPr>
              <p:cNvPr id="21" name="Ink 20">
                <a:extLst>
                  <a:ext uri="{FF2B5EF4-FFF2-40B4-BE49-F238E27FC236}">
                    <a16:creationId xmlns:a16="http://schemas.microsoft.com/office/drawing/2014/main" id="{40FBFCC4-00F3-79A2-99D5-D63DCAF1CAE4}"/>
                  </a:ext>
                </a:extLst>
              </p:cNvPr>
              <p:cNvPicPr/>
              <p:nvPr/>
            </p:nvPicPr>
            <p:blipFill>
              <a:blip r:embed="rId25"/>
              <a:stretch>
                <a:fillRect/>
              </a:stretch>
            </p:blipFill>
            <p:spPr>
              <a:xfrm>
                <a:off x="5588050" y="649694"/>
                <a:ext cx="828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FBDBB680-171D-F351-D2AF-57FE9E871D84}"/>
                  </a:ext>
                </a:extLst>
              </p14:cNvPr>
              <p14:cNvContentPartPr/>
              <p14:nvPr/>
            </p14:nvContentPartPr>
            <p14:xfrm>
              <a:off x="5607130" y="628454"/>
              <a:ext cx="126720" cy="143640"/>
            </p14:xfrm>
          </p:contentPart>
        </mc:Choice>
        <mc:Fallback xmlns="">
          <p:pic>
            <p:nvPicPr>
              <p:cNvPr id="22" name="Ink 21">
                <a:extLst>
                  <a:ext uri="{FF2B5EF4-FFF2-40B4-BE49-F238E27FC236}">
                    <a16:creationId xmlns:a16="http://schemas.microsoft.com/office/drawing/2014/main" id="{FBDBB680-171D-F351-D2AF-57FE9E871D84}"/>
                  </a:ext>
                </a:extLst>
              </p:cNvPr>
              <p:cNvPicPr/>
              <p:nvPr/>
            </p:nvPicPr>
            <p:blipFill>
              <a:blip r:embed="rId27"/>
              <a:stretch>
                <a:fillRect/>
              </a:stretch>
            </p:blipFill>
            <p:spPr>
              <a:xfrm>
                <a:off x="5589130" y="610454"/>
                <a:ext cx="1623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A8D2E62E-9CC9-D54B-3705-DADCE8A86641}"/>
                  </a:ext>
                </a:extLst>
              </p14:cNvPr>
              <p14:cNvContentPartPr/>
              <p14:nvPr/>
            </p14:nvContentPartPr>
            <p14:xfrm>
              <a:off x="5643490" y="700454"/>
              <a:ext cx="75600" cy="147240"/>
            </p14:xfrm>
          </p:contentPart>
        </mc:Choice>
        <mc:Fallback xmlns="">
          <p:pic>
            <p:nvPicPr>
              <p:cNvPr id="23" name="Ink 22">
                <a:extLst>
                  <a:ext uri="{FF2B5EF4-FFF2-40B4-BE49-F238E27FC236}">
                    <a16:creationId xmlns:a16="http://schemas.microsoft.com/office/drawing/2014/main" id="{A8D2E62E-9CC9-D54B-3705-DADCE8A86641}"/>
                  </a:ext>
                </a:extLst>
              </p:cNvPr>
              <p:cNvPicPr/>
              <p:nvPr/>
            </p:nvPicPr>
            <p:blipFill>
              <a:blip r:embed="rId29"/>
              <a:stretch>
                <a:fillRect/>
              </a:stretch>
            </p:blipFill>
            <p:spPr>
              <a:xfrm>
                <a:off x="5625490" y="682454"/>
                <a:ext cx="111240" cy="182880"/>
              </a:xfrm>
              <a:prstGeom prst="rect">
                <a:avLst/>
              </a:prstGeom>
            </p:spPr>
          </p:pic>
        </mc:Fallback>
      </mc:AlternateContent>
      <p:sp>
        <p:nvSpPr>
          <p:cNvPr id="24" name="Text 0">
            <a:extLst>
              <a:ext uri="{FF2B5EF4-FFF2-40B4-BE49-F238E27FC236}">
                <a16:creationId xmlns:a16="http://schemas.microsoft.com/office/drawing/2014/main" id="{81371633-1CC1-490D-5D10-86CE73880009}"/>
              </a:ext>
            </a:extLst>
          </p:cNvPr>
          <p:cNvSpPr/>
          <p:nvPr/>
        </p:nvSpPr>
        <p:spPr>
          <a:xfrm>
            <a:off x="144736" y="417734"/>
            <a:ext cx="5048696" cy="354360"/>
          </a:xfrm>
          <a:prstGeom prst="rect">
            <a:avLst/>
          </a:prstGeom>
          <a:noFill/>
          <a:ln/>
        </p:spPr>
        <p:txBody>
          <a:bodyPr wrap="none" lIns="0" tIns="0" rIns="0" bIns="0" rtlCol="0" anchor="t"/>
          <a:lstStyle/>
          <a:p>
            <a:pPr marL="0" indent="0" algn="l">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Fully Connected Layer — Final Decision</a:t>
            </a:r>
            <a:endParaRPr lang="en-US" sz="2200" dirty="0"/>
          </a:p>
        </p:txBody>
      </p:sp>
      <p:sp>
        <p:nvSpPr>
          <p:cNvPr id="25" name="Text 1">
            <a:extLst>
              <a:ext uri="{FF2B5EF4-FFF2-40B4-BE49-F238E27FC236}">
                <a16:creationId xmlns:a16="http://schemas.microsoft.com/office/drawing/2014/main" id="{355D9F53-0BF8-2249-61D8-A714EA2112E2}"/>
              </a:ext>
            </a:extLst>
          </p:cNvPr>
          <p:cNvSpPr/>
          <p:nvPr/>
        </p:nvSpPr>
        <p:spPr>
          <a:xfrm>
            <a:off x="152725" y="855391"/>
            <a:ext cx="5476074" cy="703111"/>
          </a:xfrm>
          <a:prstGeom prst="rect">
            <a:avLst/>
          </a:prstGeom>
          <a:noFill/>
          <a:ln/>
        </p:spPr>
        <p:txBody>
          <a:bodyPr wrap="square" lIns="0" tIns="0" rIns="0" bIns="0" rtlCol="0" anchor="t"/>
          <a:lstStyle/>
          <a:p>
            <a:pPr marL="0" indent="0" algn="l">
              <a:lnSpc>
                <a:spcPts val="1650"/>
              </a:lnSpc>
              <a:buNone/>
            </a:pPr>
            <a:r>
              <a:rPr lang="en-US" sz="1100" dirty="0">
                <a:solidFill>
                  <a:srgbClr val="384653"/>
                </a:solidFill>
                <a:latin typeface="Roboto" pitchFamily="34" charset="0"/>
                <a:ea typeface="Roboto" pitchFamily="34" charset="-122"/>
                <a:cs typeface="Roboto" pitchFamily="34" charset="-120"/>
              </a:rPr>
              <a:t>After convolution and pooling,  feature maps are flattened into a 1D vector and fed into fully connected (FC) layers. FC layers associate extracted features to target classes; final layer uses softmax for class probabilities.</a:t>
            </a:r>
            <a:endParaRPr lang="en-US" sz="1100" dirty="0"/>
          </a:p>
        </p:txBody>
      </p:sp>
      <p:sp>
        <p:nvSpPr>
          <p:cNvPr id="26" name="Shape 2">
            <a:extLst>
              <a:ext uri="{FF2B5EF4-FFF2-40B4-BE49-F238E27FC236}">
                <a16:creationId xmlns:a16="http://schemas.microsoft.com/office/drawing/2014/main" id="{658F7DF9-1E7C-5E26-355F-573D2FEC9933}"/>
              </a:ext>
            </a:extLst>
          </p:cNvPr>
          <p:cNvSpPr/>
          <p:nvPr/>
        </p:nvSpPr>
        <p:spPr>
          <a:xfrm>
            <a:off x="144736" y="1640283"/>
            <a:ext cx="2622724" cy="1368491"/>
          </a:xfrm>
          <a:prstGeom prst="roundRect">
            <a:avLst>
              <a:gd name="adj" fmla="val 3521"/>
            </a:avLst>
          </a:prstGeom>
          <a:solidFill>
            <a:srgbClr val="FAF9F5"/>
          </a:solidFill>
          <a:ln w="19050">
            <a:solidFill>
              <a:srgbClr val="BFD3D8"/>
            </a:solidFill>
            <a:prstDash val="solid"/>
          </a:ln>
        </p:spPr>
        <p:txBody>
          <a:bodyPr/>
          <a:lstStyle/>
          <a:p>
            <a:endParaRPr lang="en-US"/>
          </a:p>
        </p:txBody>
      </p:sp>
      <p:sp>
        <p:nvSpPr>
          <p:cNvPr id="27" name="Shape 3">
            <a:extLst>
              <a:ext uri="{FF2B5EF4-FFF2-40B4-BE49-F238E27FC236}">
                <a16:creationId xmlns:a16="http://schemas.microsoft.com/office/drawing/2014/main" id="{934D6A8D-B24B-271F-881B-FA506D89EA32}"/>
              </a:ext>
            </a:extLst>
          </p:cNvPr>
          <p:cNvSpPr/>
          <p:nvPr/>
        </p:nvSpPr>
        <p:spPr>
          <a:xfrm>
            <a:off x="163786" y="1659333"/>
            <a:ext cx="2584624" cy="290398"/>
          </a:xfrm>
          <a:prstGeom prst="roundRect">
            <a:avLst>
              <a:gd name="adj" fmla="val 8626"/>
            </a:avLst>
          </a:prstGeom>
          <a:solidFill>
            <a:srgbClr val="D9EDF2"/>
          </a:solidFill>
          <a:ln/>
        </p:spPr>
        <p:txBody>
          <a:bodyPr/>
          <a:lstStyle/>
          <a:p>
            <a:endParaRPr lang="en-US"/>
          </a:p>
        </p:txBody>
      </p:sp>
      <p:sp>
        <p:nvSpPr>
          <p:cNvPr id="28" name="Text 4">
            <a:extLst>
              <a:ext uri="{FF2B5EF4-FFF2-40B4-BE49-F238E27FC236}">
                <a16:creationId xmlns:a16="http://schemas.microsoft.com/office/drawing/2014/main" id="{C1A9C777-6BD1-15F0-1E18-49F6ED835E12}"/>
              </a:ext>
            </a:extLst>
          </p:cNvPr>
          <p:cNvSpPr/>
          <p:nvPr/>
        </p:nvSpPr>
        <p:spPr>
          <a:xfrm>
            <a:off x="1349797" y="1684184"/>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384653"/>
                </a:solidFill>
                <a:latin typeface="Host Grotesk Medium" pitchFamily="34" charset="0"/>
                <a:ea typeface="Host Grotesk Medium" pitchFamily="34" charset="-122"/>
                <a:cs typeface="Host Grotesk Medium" pitchFamily="34" charset="-120"/>
              </a:rPr>
              <a:t>1</a:t>
            </a:r>
            <a:endParaRPr lang="en-US" sz="1650" dirty="0"/>
          </a:p>
        </p:txBody>
      </p:sp>
      <p:sp>
        <p:nvSpPr>
          <p:cNvPr id="29" name="Text 5">
            <a:extLst>
              <a:ext uri="{FF2B5EF4-FFF2-40B4-BE49-F238E27FC236}">
                <a16:creationId xmlns:a16="http://schemas.microsoft.com/office/drawing/2014/main" id="{AC8EF8C6-FF1F-3646-C8EC-3FD21F308EAC}"/>
              </a:ext>
            </a:extLst>
          </p:cNvPr>
          <p:cNvSpPr/>
          <p:nvPr/>
        </p:nvSpPr>
        <p:spPr>
          <a:xfrm>
            <a:off x="261068" y="2001518"/>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Flattening</a:t>
            </a:r>
            <a:endParaRPr lang="en-US" sz="1350" dirty="0"/>
          </a:p>
        </p:txBody>
      </p:sp>
      <p:sp>
        <p:nvSpPr>
          <p:cNvPr id="30" name="Text 6">
            <a:extLst>
              <a:ext uri="{FF2B5EF4-FFF2-40B4-BE49-F238E27FC236}">
                <a16:creationId xmlns:a16="http://schemas.microsoft.com/office/drawing/2014/main" id="{5D3228AB-5D94-7234-72DB-7FFBA11DD269}"/>
              </a:ext>
            </a:extLst>
          </p:cNvPr>
          <p:cNvSpPr/>
          <p:nvPr/>
        </p:nvSpPr>
        <p:spPr>
          <a:xfrm>
            <a:off x="261069" y="2279159"/>
            <a:ext cx="2301106" cy="647984"/>
          </a:xfrm>
          <a:prstGeom prst="rect">
            <a:avLst/>
          </a:prstGeom>
          <a:noFill/>
          <a:ln/>
        </p:spPr>
        <p:txBody>
          <a:bodyPr wrap="square" lIns="0" tIns="0" rIns="0" bIns="0" rtlCol="0" anchor="t"/>
          <a:lstStyle/>
          <a:p>
            <a:pPr marL="0" indent="0" algn="l">
              <a:lnSpc>
                <a:spcPts val="1650"/>
              </a:lnSpc>
              <a:buNone/>
            </a:pPr>
            <a:r>
              <a:rPr lang="en-US" sz="1100" dirty="0">
                <a:solidFill>
                  <a:srgbClr val="384653"/>
                </a:solidFill>
                <a:latin typeface="Roboto" pitchFamily="34" charset="0"/>
                <a:ea typeface="Roboto" pitchFamily="34" charset="-122"/>
                <a:cs typeface="Roboto" pitchFamily="34" charset="-120"/>
              </a:rPr>
              <a:t>After the final pooling layer, feature maps are converted into a 1D vector to be fed into the dense network.</a:t>
            </a:r>
          </a:p>
        </p:txBody>
      </p:sp>
      <p:sp>
        <p:nvSpPr>
          <p:cNvPr id="31" name="Shape 7">
            <a:extLst>
              <a:ext uri="{FF2B5EF4-FFF2-40B4-BE49-F238E27FC236}">
                <a16:creationId xmlns:a16="http://schemas.microsoft.com/office/drawing/2014/main" id="{95893B79-41F6-D0CB-D514-03E38EA533C5}"/>
              </a:ext>
            </a:extLst>
          </p:cNvPr>
          <p:cNvSpPr/>
          <p:nvPr/>
        </p:nvSpPr>
        <p:spPr>
          <a:xfrm>
            <a:off x="2862588" y="2427266"/>
            <a:ext cx="2622724" cy="1375677"/>
          </a:xfrm>
          <a:prstGeom prst="roundRect">
            <a:avLst>
              <a:gd name="adj" fmla="val 3521"/>
            </a:avLst>
          </a:prstGeom>
          <a:solidFill>
            <a:srgbClr val="FAF9F5"/>
          </a:solidFill>
          <a:ln w="19050">
            <a:solidFill>
              <a:srgbClr val="BFD3D8"/>
            </a:solidFill>
            <a:prstDash val="solid"/>
          </a:ln>
        </p:spPr>
        <p:txBody>
          <a:bodyPr/>
          <a:lstStyle/>
          <a:p>
            <a:endParaRPr lang="en-US"/>
          </a:p>
        </p:txBody>
      </p:sp>
      <p:sp>
        <p:nvSpPr>
          <p:cNvPr id="32" name="Shape 8">
            <a:extLst>
              <a:ext uri="{FF2B5EF4-FFF2-40B4-BE49-F238E27FC236}">
                <a16:creationId xmlns:a16="http://schemas.microsoft.com/office/drawing/2014/main" id="{09640347-D0AB-BDBD-90DF-66FC5E477173}"/>
              </a:ext>
            </a:extLst>
          </p:cNvPr>
          <p:cNvSpPr/>
          <p:nvPr/>
        </p:nvSpPr>
        <p:spPr>
          <a:xfrm>
            <a:off x="2881638" y="2446316"/>
            <a:ext cx="2584624" cy="290398"/>
          </a:xfrm>
          <a:prstGeom prst="roundRect">
            <a:avLst>
              <a:gd name="adj" fmla="val 8626"/>
            </a:avLst>
          </a:prstGeom>
          <a:solidFill>
            <a:srgbClr val="D9EDF2"/>
          </a:solidFill>
          <a:ln/>
        </p:spPr>
        <p:txBody>
          <a:bodyPr/>
          <a:lstStyle/>
          <a:p>
            <a:endParaRPr lang="en-US"/>
          </a:p>
        </p:txBody>
      </p:sp>
      <p:sp>
        <p:nvSpPr>
          <p:cNvPr id="33" name="Text 9">
            <a:extLst>
              <a:ext uri="{FF2B5EF4-FFF2-40B4-BE49-F238E27FC236}">
                <a16:creationId xmlns:a16="http://schemas.microsoft.com/office/drawing/2014/main" id="{E6488BC4-043C-D881-E467-E4A822FB81B1}"/>
              </a:ext>
            </a:extLst>
          </p:cNvPr>
          <p:cNvSpPr/>
          <p:nvPr/>
        </p:nvSpPr>
        <p:spPr>
          <a:xfrm>
            <a:off x="4067649" y="2463672"/>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384653"/>
                </a:solidFill>
                <a:latin typeface="Host Grotesk Medium" pitchFamily="34" charset="0"/>
                <a:ea typeface="Host Grotesk Medium" pitchFamily="34" charset="-122"/>
                <a:cs typeface="Host Grotesk Medium" pitchFamily="34" charset="-120"/>
              </a:rPr>
              <a:t>2</a:t>
            </a:r>
            <a:endParaRPr lang="en-US" sz="1650" dirty="0"/>
          </a:p>
        </p:txBody>
      </p:sp>
      <p:sp>
        <p:nvSpPr>
          <p:cNvPr id="34" name="Text 10">
            <a:extLst>
              <a:ext uri="{FF2B5EF4-FFF2-40B4-BE49-F238E27FC236}">
                <a16:creationId xmlns:a16="http://schemas.microsoft.com/office/drawing/2014/main" id="{56EF4998-4894-3ADF-408A-C2CD14383900}"/>
              </a:ext>
            </a:extLst>
          </p:cNvPr>
          <p:cNvSpPr/>
          <p:nvPr/>
        </p:nvSpPr>
        <p:spPr>
          <a:xfrm>
            <a:off x="2993417" y="2788501"/>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Dense layers</a:t>
            </a:r>
            <a:endParaRPr lang="en-US" sz="1350" dirty="0"/>
          </a:p>
        </p:txBody>
      </p:sp>
      <p:sp>
        <p:nvSpPr>
          <p:cNvPr id="35" name="Text 11">
            <a:extLst>
              <a:ext uri="{FF2B5EF4-FFF2-40B4-BE49-F238E27FC236}">
                <a16:creationId xmlns:a16="http://schemas.microsoft.com/office/drawing/2014/main" id="{E603E54F-83BF-8694-C5D5-6217B1566492}"/>
              </a:ext>
            </a:extLst>
          </p:cNvPr>
          <p:cNvSpPr/>
          <p:nvPr/>
        </p:nvSpPr>
        <p:spPr>
          <a:xfrm>
            <a:off x="2993417" y="3058609"/>
            <a:ext cx="2403042" cy="637803"/>
          </a:xfrm>
          <a:prstGeom prst="rect">
            <a:avLst/>
          </a:prstGeom>
          <a:noFill/>
          <a:ln/>
        </p:spPr>
        <p:txBody>
          <a:bodyPr wrap="square" lIns="0" tIns="0" rIns="0" bIns="0" rtlCol="0" anchor="t"/>
          <a:lstStyle/>
          <a:p>
            <a:pPr marL="0" indent="0" algn="l">
              <a:lnSpc>
                <a:spcPts val="1650"/>
              </a:lnSpc>
              <a:buNone/>
            </a:pPr>
            <a:r>
              <a:rPr lang="en-US" sz="1100" dirty="0">
                <a:solidFill>
                  <a:srgbClr val="384653"/>
                </a:solidFill>
                <a:latin typeface="Roboto" pitchFamily="34" charset="0"/>
                <a:ea typeface="Roboto" pitchFamily="34" charset="-122"/>
                <a:cs typeface="Roboto" pitchFamily="34" charset="-120"/>
              </a:rPr>
              <a:t>Three FC layers (4096-4096-1000) act as the final decision center, associating features to target classes.</a:t>
            </a:r>
            <a:endParaRPr lang="en-US" sz="1100" dirty="0"/>
          </a:p>
        </p:txBody>
      </p:sp>
      <p:sp>
        <p:nvSpPr>
          <p:cNvPr id="36" name="Shape 12">
            <a:extLst>
              <a:ext uri="{FF2B5EF4-FFF2-40B4-BE49-F238E27FC236}">
                <a16:creationId xmlns:a16="http://schemas.microsoft.com/office/drawing/2014/main" id="{D894FA41-B0C8-056E-41B9-43943ED7316E}"/>
              </a:ext>
            </a:extLst>
          </p:cNvPr>
          <p:cNvSpPr/>
          <p:nvPr/>
        </p:nvSpPr>
        <p:spPr>
          <a:xfrm>
            <a:off x="152725" y="3493495"/>
            <a:ext cx="2622724" cy="1375677"/>
          </a:xfrm>
          <a:prstGeom prst="roundRect">
            <a:avLst>
              <a:gd name="adj" fmla="val 3521"/>
            </a:avLst>
          </a:prstGeom>
          <a:solidFill>
            <a:srgbClr val="FAF9F5"/>
          </a:solidFill>
          <a:ln w="19050">
            <a:solidFill>
              <a:srgbClr val="BFD3D8"/>
            </a:solidFill>
            <a:prstDash val="solid"/>
          </a:ln>
        </p:spPr>
        <p:txBody>
          <a:bodyPr/>
          <a:lstStyle/>
          <a:p>
            <a:endParaRPr lang="en-US"/>
          </a:p>
        </p:txBody>
      </p:sp>
      <p:sp>
        <p:nvSpPr>
          <p:cNvPr id="37" name="Shape 13">
            <a:extLst>
              <a:ext uri="{FF2B5EF4-FFF2-40B4-BE49-F238E27FC236}">
                <a16:creationId xmlns:a16="http://schemas.microsoft.com/office/drawing/2014/main" id="{AA228A43-AD4B-0D5A-2769-5472A7DB4AF1}"/>
              </a:ext>
            </a:extLst>
          </p:cNvPr>
          <p:cNvSpPr/>
          <p:nvPr/>
        </p:nvSpPr>
        <p:spPr>
          <a:xfrm>
            <a:off x="171775" y="3512545"/>
            <a:ext cx="2584624" cy="290398"/>
          </a:xfrm>
          <a:prstGeom prst="roundRect">
            <a:avLst>
              <a:gd name="adj" fmla="val 8626"/>
            </a:avLst>
          </a:prstGeom>
          <a:solidFill>
            <a:srgbClr val="D9EDF2"/>
          </a:solidFill>
          <a:ln/>
        </p:spPr>
        <p:txBody>
          <a:bodyPr/>
          <a:lstStyle/>
          <a:p>
            <a:endParaRPr lang="en-US"/>
          </a:p>
        </p:txBody>
      </p:sp>
      <p:sp>
        <p:nvSpPr>
          <p:cNvPr id="38" name="Text 14">
            <a:extLst>
              <a:ext uri="{FF2B5EF4-FFF2-40B4-BE49-F238E27FC236}">
                <a16:creationId xmlns:a16="http://schemas.microsoft.com/office/drawing/2014/main" id="{A62815C6-9145-3CCC-86EB-4E5A8AF906B9}"/>
              </a:ext>
            </a:extLst>
          </p:cNvPr>
          <p:cNvSpPr/>
          <p:nvPr/>
        </p:nvSpPr>
        <p:spPr>
          <a:xfrm>
            <a:off x="1357787" y="3529901"/>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384653"/>
                </a:solidFill>
                <a:latin typeface="Host Grotesk Medium" pitchFamily="34" charset="0"/>
                <a:ea typeface="Host Grotesk Medium" pitchFamily="34" charset="-122"/>
                <a:cs typeface="Host Grotesk Medium" pitchFamily="34" charset="-120"/>
              </a:rPr>
              <a:t>3</a:t>
            </a:r>
            <a:endParaRPr lang="en-US" sz="1650" dirty="0"/>
          </a:p>
        </p:txBody>
      </p:sp>
      <p:sp>
        <p:nvSpPr>
          <p:cNvPr id="39" name="Text 15">
            <a:extLst>
              <a:ext uri="{FF2B5EF4-FFF2-40B4-BE49-F238E27FC236}">
                <a16:creationId xmlns:a16="http://schemas.microsoft.com/office/drawing/2014/main" id="{C6562DD1-0DAF-4B32-AFBE-26D9F8076627}"/>
              </a:ext>
            </a:extLst>
          </p:cNvPr>
          <p:cNvSpPr/>
          <p:nvPr/>
        </p:nvSpPr>
        <p:spPr>
          <a:xfrm>
            <a:off x="261069" y="3854730"/>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384653"/>
                </a:solidFill>
                <a:latin typeface="Host Grotesk Medium" pitchFamily="34" charset="0"/>
                <a:ea typeface="Host Grotesk Medium" pitchFamily="34" charset="-122"/>
                <a:cs typeface="Host Grotesk Medium" pitchFamily="34" charset="-120"/>
              </a:rPr>
              <a:t>Softmax output</a:t>
            </a:r>
            <a:endParaRPr lang="en-US" sz="1350" dirty="0"/>
          </a:p>
        </p:txBody>
      </p:sp>
      <p:sp>
        <p:nvSpPr>
          <p:cNvPr id="40" name="Text 16">
            <a:extLst>
              <a:ext uri="{FF2B5EF4-FFF2-40B4-BE49-F238E27FC236}">
                <a16:creationId xmlns:a16="http://schemas.microsoft.com/office/drawing/2014/main" id="{183F5F29-6CFB-138F-B002-51B630812CB5}"/>
              </a:ext>
            </a:extLst>
          </p:cNvPr>
          <p:cNvSpPr/>
          <p:nvPr/>
        </p:nvSpPr>
        <p:spPr>
          <a:xfrm>
            <a:off x="261068" y="4123456"/>
            <a:ext cx="2491895" cy="642478"/>
          </a:xfrm>
          <a:prstGeom prst="rect">
            <a:avLst/>
          </a:prstGeom>
          <a:noFill/>
          <a:ln/>
        </p:spPr>
        <p:txBody>
          <a:bodyPr wrap="square" lIns="0" tIns="0" rIns="0" bIns="0" rtlCol="0" anchor="t"/>
          <a:lstStyle/>
          <a:p>
            <a:pPr marL="0" indent="0" algn="l">
              <a:lnSpc>
                <a:spcPts val="1650"/>
              </a:lnSpc>
              <a:buNone/>
            </a:pPr>
            <a:r>
              <a:rPr lang="en-US" sz="1100" dirty="0">
                <a:solidFill>
                  <a:srgbClr val="384653"/>
                </a:solidFill>
                <a:latin typeface="Roboto" pitchFamily="34" charset="0"/>
                <a:ea typeface="Roboto" pitchFamily="34" charset="-122"/>
                <a:cs typeface="Roboto" pitchFamily="34" charset="-120"/>
              </a:rPr>
              <a:t>The final layer uses </a:t>
            </a:r>
            <a:r>
              <a:rPr lang="en-US" sz="1100" dirty="0" err="1">
                <a:solidFill>
                  <a:srgbClr val="384653"/>
                </a:solidFill>
                <a:latin typeface="Roboto" pitchFamily="34" charset="0"/>
                <a:ea typeface="Roboto" pitchFamily="34" charset="-122"/>
                <a:cs typeface="Roboto" pitchFamily="34" charset="-120"/>
              </a:rPr>
              <a:t>Softmax</a:t>
            </a:r>
            <a:r>
              <a:rPr lang="en-US" sz="1100" dirty="0">
                <a:solidFill>
                  <a:srgbClr val="384653"/>
                </a:solidFill>
                <a:latin typeface="Roboto" pitchFamily="34" charset="0"/>
                <a:ea typeface="Roboto" pitchFamily="34" charset="-122"/>
                <a:cs typeface="Roboto" pitchFamily="34" charset="-120"/>
              </a:rPr>
              <a:t> to produce a probability distribution across the 1,000 ImageNet object classes.</a:t>
            </a:r>
          </a:p>
        </p:txBody>
      </p:sp>
      <mc:AlternateContent xmlns:mc="http://schemas.openxmlformats.org/markup-compatibility/2006" xmlns:p14="http://schemas.microsoft.com/office/powerpoint/2010/main">
        <mc:Choice Requires="p14">
          <p:contentPart p14:bwMode="auto" r:id="rId30">
            <p14:nvContentPartPr>
              <p14:cNvPr id="42" name="Ink 41">
                <a:extLst>
                  <a:ext uri="{FF2B5EF4-FFF2-40B4-BE49-F238E27FC236}">
                    <a16:creationId xmlns:a16="http://schemas.microsoft.com/office/drawing/2014/main" id="{2EA05D35-8C81-E422-DF5F-4391058E7DB3}"/>
                  </a:ext>
                </a:extLst>
              </p14:cNvPr>
              <p14:cNvContentPartPr/>
              <p14:nvPr/>
            </p14:nvContentPartPr>
            <p14:xfrm>
              <a:off x="5718370" y="2884934"/>
              <a:ext cx="37800" cy="232920"/>
            </p14:xfrm>
          </p:contentPart>
        </mc:Choice>
        <mc:Fallback xmlns="">
          <p:pic>
            <p:nvPicPr>
              <p:cNvPr id="42" name="Ink 41">
                <a:extLst>
                  <a:ext uri="{FF2B5EF4-FFF2-40B4-BE49-F238E27FC236}">
                    <a16:creationId xmlns:a16="http://schemas.microsoft.com/office/drawing/2014/main" id="{2EA05D35-8C81-E422-DF5F-4391058E7DB3}"/>
                  </a:ext>
                </a:extLst>
              </p:cNvPr>
              <p:cNvPicPr/>
              <p:nvPr/>
            </p:nvPicPr>
            <p:blipFill>
              <a:blip r:embed="rId31"/>
              <a:stretch>
                <a:fillRect/>
              </a:stretch>
            </p:blipFill>
            <p:spPr>
              <a:xfrm>
                <a:off x="5700370" y="2866934"/>
                <a:ext cx="734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3" name="Ink 42">
                <a:extLst>
                  <a:ext uri="{FF2B5EF4-FFF2-40B4-BE49-F238E27FC236}">
                    <a16:creationId xmlns:a16="http://schemas.microsoft.com/office/drawing/2014/main" id="{A66953DC-85A1-85A8-E514-4483C5BE3D24}"/>
                  </a:ext>
                </a:extLst>
              </p14:cNvPr>
              <p14:cNvContentPartPr/>
              <p14:nvPr/>
            </p14:nvContentPartPr>
            <p14:xfrm>
              <a:off x="5526490" y="2851094"/>
              <a:ext cx="95760" cy="157680"/>
            </p14:xfrm>
          </p:contentPart>
        </mc:Choice>
        <mc:Fallback xmlns="">
          <p:pic>
            <p:nvPicPr>
              <p:cNvPr id="43" name="Ink 42">
                <a:extLst>
                  <a:ext uri="{FF2B5EF4-FFF2-40B4-BE49-F238E27FC236}">
                    <a16:creationId xmlns:a16="http://schemas.microsoft.com/office/drawing/2014/main" id="{A66953DC-85A1-85A8-E514-4483C5BE3D24}"/>
                  </a:ext>
                </a:extLst>
              </p:cNvPr>
              <p:cNvPicPr/>
              <p:nvPr/>
            </p:nvPicPr>
            <p:blipFill>
              <a:blip r:embed="rId33"/>
              <a:stretch>
                <a:fillRect/>
              </a:stretch>
            </p:blipFill>
            <p:spPr>
              <a:xfrm>
                <a:off x="5508490" y="2833454"/>
                <a:ext cx="1314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4" name="Ink 43">
                <a:extLst>
                  <a:ext uri="{FF2B5EF4-FFF2-40B4-BE49-F238E27FC236}">
                    <a16:creationId xmlns:a16="http://schemas.microsoft.com/office/drawing/2014/main" id="{F1022A23-0655-FE8C-D65D-21963AE81FC2}"/>
                  </a:ext>
                </a:extLst>
              </p14:cNvPr>
              <p14:cNvContentPartPr/>
              <p14:nvPr/>
            </p14:nvContentPartPr>
            <p14:xfrm>
              <a:off x="5525410" y="2881334"/>
              <a:ext cx="126000" cy="192240"/>
            </p14:xfrm>
          </p:contentPart>
        </mc:Choice>
        <mc:Fallback xmlns="">
          <p:pic>
            <p:nvPicPr>
              <p:cNvPr id="44" name="Ink 43">
                <a:extLst>
                  <a:ext uri="{FF2B5EF4-FFF2-40B4-BE49-F238E27FC236}">
                    <a16:creationId xmlns:a16="http://schemas.microsoft.com/office/drawing/2014/main" id="{F1022A23-0655-FE8C-D65D-21963AE81FC2}"/>
                  </a:ext>
                </a:extLst>
              </p:cNvPr>
              <p:cNvPicPr/>
              <p:nvPr/>
            </p:nvPicPr>
            <p:blipFill>
              <a:blip r:embed="rId35"/>
              <a:stretch>
                <a:fillRect/>
              </a:stretch>
            </p:blipFill>
            <p:spPr>
              <a:xfrm>
                <a:off x="5507770" y="2863694"/>
                <a:ext cx="161640" cy="227880"/>
              </a:xfrm>
              <a:prstGeom prst="rect">
                <a:avLst/>
              </a:prstGeom>
            </p:spPr>
          </p:pic>
        </mc:Fallback>
      </mc:AlternateContent>
      <p:grpSp>
        <p:nvGrpSpPr>
          <p:cNvPr id="47" name="Group 46">
            <a:extLst>
              <a:ext uri="{FF2B5EF4-FFF2-40B4-BE49-F238E27FC236}">
                <a16:creationId xmlns:a16="http://schemas.microsoft.com/office/drawing/2014/main" id="{6FB6411A-58F0-311B-3F97-16FF2536C43D}"/>
              </a:ext>
            </a:extLst>
          </p:cNvPr>
          <p:cNvGrpSpPr/>
          <p:nvPr/>
        </p:nvGrpSpPr>
        <p:grpSpPr>
          <a:xfrm>
            <a:off x="5704690" y="2937134"/>
            <a:ext cx="59040" cy="203760"/>
            <a:chOff x="5704690" y="2937134"/>
            <a:chExt cx="59040" cy="203760"/>
          </a:xfrm>
        </p:grpSpPr>
        <mc:AlternateContent xmlns:mc="http://schemas.openxmlformats.org/markup-compatibility/2006" xmlns:p14="http://schemas.microsoft.com/office/powerpoint/2010/main">
          <mc:Choice Requires="p14">
            <p:contentPart p14:bwMode="auto" r:id="rId36">
              <p14:nvContentPartPr>
                <p14:cNvPr id="45" name="Ink 44">
                  <a:extLst>
                    <a:ext uri="{FF2B5EF4-FFF2-40B4-BE49-F238E27FC236}">
                      <a16:creationId xmlns:a16="http://schemas.microsoft.com/office/drawing/2014/main" id="{A1ED4929-0AF3-9423-B5B1-9E56D6887FE2}"/>
                    </a:ext>
                  </a:extLst>
                </p14:cNvPr>
                <p14:cNvContentPartPr/>
                <p14:nvPr/>
              </p14:nvContentPartPr>
              <p14:xfrm>
                <a:off x="5704690" y="2937134"/>
                <a:ext cx="59040" cy="164160"/>
              </p14:xfrm>
            </p:contentPart>
          </mc:Choice>
          <mc:Fallback xmlns="">
            <p:pic>
              <p:nvPicPr>
                <p:cNvPr id="45" name="Ink 44">
                  <a:extLst>
                    <a:ext uri="{FF2B5EF4-FFF2-40B4-BE49-F238E27FC236}">
                      <a16:creationId xmlns:a16="http://schemas.microsoft.com/office/drawing/2014/main" id="{A1ED4929-0AF3-9423-B5B1-9E56D6887FE2}"/>
                    </a:ext>
                  </a:extLst>
                </p:cNvPr>
                <p:cNvPicPr/>
                <p:nvPr/>
              </p:nvPicPr>
              <p:blipFill>
                <a:blip r:embed="rId37"/>
                <a:stretch>
                  <a:fillRect/>
                </a:stretch>
              </p:blipFill>
              <p:spPr>
                <a:xfrm>
                  <a:off x="5687050" y="2919134"/>
                  <a:ext cx="946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6" name="Ink 45">
                  <a:extLst>
                    <a:ext uri="{FF2B5EF4-FFF2-40B4-BE49-F238E27FC236}">
                      <a16:creationId xmlns:a16="http://schemas.microsoft.com/office/drawing/2014/main" id="{7798D0D8-542F-4A8F-7990-DD4D84D47BCD}"/>
                    </a:ext>
                  </a:extLst>
                </p14:cNvPr>
                <p14:cNvContentPartPr/>
                <p14:nvPr/>
              </p14:nvContentPartPr>
              <p14:xfrm>
                <a:off x="5748610" y="3020294"/>
                <a:ext cx="360" cy="120600"/>
              </p14:xfrm>
            </p:contentPart>
          </mc:Choice>
          <mc:Fallback xmlns="">
            <p:pic>
              <p:nvPicPr>
                <p:cNvPr id="46" name="Ink 45">
                  <a:extLst>
                    <a:ext uri="{FF2B5EF4-FFF2-40B4-BE49-F238E27FC236}">
                      <a16:creationId xmlns:a16="http://schemas.microsoft.com/office/drawing/2014/main" id="{7798D0D8-542F-4A8F-7990-DD4D84D47BCD}"/>
                    </a:ext>
                  </a:extLst>
                </p:cNvPr>
                <p:cNvPicPr/>
                <p:nvPr/>
              </p:nvPicPr>
              <p:blipFill>
                <a:blip r:embed="rId39"/>
                <a:stretch>
                  <a:fillRect/>
                </a:stretch>
              </p:blipFill>
              <p:spPr>
                <a:xfrm>
                  <a:off x="5730970" y="3002654"/>
                  <a:ext cx="36000" cy="156240"/>
                </a:xfrm>
                <a:prstGeom prst="rect">
                  <a:avLst/>
                </a:prstGeom>
              </p:spPr>
            </p:pic>
          </mc:Fallback>
        </mc:AlternateContent>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8894126-8F17-A784-F535-3923B3FCDE91}"/>
              </a:ext>
            </a:extLst>
          </p:cNvPr>
          <p:cNvPicPr>
            <a:picLocks noChangeAspect="1"/>
          </p:cNvPicPr>
          <p:nvPr/>
        </p:nvPicPr>
        <p:blipFill>
          <a:blip r:embed="rId3"/>
          <a:srcRect l="3325" r="1334"/>
          <a:stretch>
            <a:fillRect/>
          </a:stretch>
        </p:blipFill>
        <p:spPr>
          <a:xfrm>
            <a:off x="3800008" y="1282874"/>
            <a:ext cx="5343992" cy="2529506"/>
          </a:xfrm>
          <a:prstGeom prst="rect">
            <a:avLst/>
          </a:prstGeom>
        </p:spPr>
      </p:pic>
      <p:sp>
        <p:nvSpPr>
          <p:cNvPr id="2" name="Text 0"/>
          <p:cNvSpPr/>
          <p:nvPr/>
        </p:nvSpPr>
        <p:spPr>
          <a:xfrm>
            <a:off x="312437" y="712676"/>
            <a:ext cx="3252936" cy="311795"/>
          </a:xfrm>
          <a:prstGeom prst="rect">
            <a:avLst/>
          </a:prstGeom>
          <a:noFill/>
          <a:ln/>
        </p:spPr>
        <p:txBody>
          <a:bodyPr wrap="none" lIns="0" tIns="0" rIns="0" bIns="0" rtlCol="0" anchor="t"/>
          <a:lstStyle/>
          <a:p>
            <a:pPr>
              <a:lnSpc>
                <a:spcPts val="2600"/>
              </a:lnSpc>
            </a:pPr>
            <a:r>
              <a:rPr lang="en-US" sz="2200" dirty="0">
                <a:solidFill>
                  <a:srgbClr val="2E3C4E"/>
                </a:solidFill>
                <a:latin typeface="Host Grotesk Medium" pitchFamily="34" charset="0"/>
                <a:cs typeface="Host Grotesk Medium" pitchFamily="34" charset="-120"/>
              </a:rPr>
              <a:t>How VGG Learns Features</a:t>
            </a:r>
          </a:p>
        </p:txBody>
      </p:sp>
      <p:sp>
        <p:nvSpPr>
          <p:cNvPr id="4" name="Shape 1"/>
          <p:cNvSpPr/>
          <p:nvPr/>
        </p:nvSpPr>
        <p:spPr>
          <a:xfrm>
            <a:off x="282457" y="1313916"/>
            <a:ext cx="118467" cy="713110"/>
          </a:xfrm>
          <a:prstGeom prst="roundRect">
            <a:avLst>
              <a:gd name="adj" fmla="val 42007"/>
            </a:avLst>
          </a:prstGeom>
          <a:solidFill>
            <a:srgbClr val="D9EDF2"/>
          </a:solidFill>
          <a:ln w="4763">
            <a:solidFill>
              <a:srgbClr val="BBC2DC"/>
            </a:solidFill>
            <a:prstDash val="solid"/>
          </a:ln>
        </p:spPr>
        <p:txBody>
          <a:bodyPr/>
          <a:lstStyle/>
          <a:p>
            <a:endParaRPr lang="en-US"/>
          </a:p>
        </p:txBody>
      </p:sp>
      <p:sp>
        <p:nvSpPr>
          <p:cNvPr id="5" name="Text 2"/>
          <p:cNvSpPr/>
          <p:nvPr/>
        </p:nvSpPr>
        <p:spPr>
          <a:xfrm>
            <a:off x="504583" y="1432384"/>
            <a:ext cx="1558975" cy="194816"/>
          </a:xfrm>
          <a:prstGeom prst="rect">
            <a:avLst/>
          </a:prstGeom>
          <a:noFill/>
          <a:ln/>
        </p:spPr>
        <p:txBody>
          <a:bodyPr wrap="none" lIns="0" tIns="0" rIns="0" bIns="0" rtlCol="0" anchor="t"/>
          <a:lstStyle/>
          <a:p>
            <a:pPr marL="0" indent="0" algn="l">
              <a:lnSpc>
                <a:spcPts val="1500"/>
              </a:lnSpc>
              <a:buNone/>
            </a:pPr>
            <a:r>
              <a:rPr lang="en-US" sz="2000" dirty="0">
                <a:solidFill>
                  <a:srgbClr val="3B3535"/>
                </a:solidFill>
                <a:ea typeface="Alexandria Semi Bold" pitchFamily="34" charset="-122"/>
                <a:cs typeface="Alexandria Semi Bold" pitchFamily="34" charset="-120"/>
              </a:rPr>
              <a:t>Early Layers</a:t>
            </a:r>
            <a:endParaRPr lang="en-US" sz="2000" dirty="0"/>
          </a:p>
        </p:txBody>
      </p:sp>
      <p:sp>
        <p:nvSpPr>
          <p:cNvPr id="6" name="Text 3"/>
          <p:cNvSpPr/>
          <p:nvPr/>
        </p:nvSpPr>
        <p:spPr>
          <a:xfrm>
            <a:off x="504583" y="1730858"/>
            <a:ext cx="3790727" cy="177701"/>
          </a:xfrm>
          <a:prstGeom prst="rect">
            <a:avLst/>
          </a:prstGeom>
          <a:noFill/>
          <a:ln/>
        </p:spPr>
        <p:txBody>
          <a:bodyPr wrap="none" lIns="0" tIns="0" rIns="0" bIns="0" rtlCol="0" anchor="t"/>
          <a:lstStyle/>
          <a:p>
            <a:pPr marL="0" indent="0" algn="l">
              <a:lnSpc>
                <a:spcPts val="1350"/>
              </a:lnSpc>
              <a:buNone/>
            </a:pPr>
            <a:r>
              <a:rPr lang="en-US" sz="1200" dirty="0">
                <a:solidFill>
                  <a:srgbClr val="3B3535"/>
                </a:solidFill>
                <a:ea typeface="Sora Light" pitchFamily="34" charset="-122"/>
                <a:cs typeface="Sora Light" pitchFamily="34" charset="-120"/>
              </a:rPr>
              <a:t>Detect edges, simple orientations, color contrasts.</a:t>
            </a:r>
            <a:endParaRPr lang="en-US" sz="1200" dirty="0"/>
          </a:p>
        </p:txBody>
      </p:sp>
      <p:sp>
        <p:nvSpPr>
          <p:cNvPr id="7" name="Shape 4"/>
          <p:cNvSpPr/>
          <p:nvPr/>
        </p:nvSpPr>
        <p:spPr>
          <a:xfrm>
            <a:off x="460157" y="2130685"/>
            <a:ext cx="118467" cy="713110"/>
          </a:xfrm>
          <a:prstGeom prst="roundRect">
            <a:avLst>
              <a:gd name="adj" fmla="val 42007"/>
            </a:avLst>
          </a:prstGeom>
          <a:solidFill>
            <a:srgbClr val="D9EDF2"/>
          </a:solidFill>
          <a:ln w="4763">
            <a:solidFill>
              <a:srgbClr val="BBC2DC"/>
            </a:solidFill>
            <a:prstDash val="solid"/>
          </a:ln>
        </p:spPr>
        <p:txBody>
          <a:bodyPr/>
          <a:lstStyle/>
          <a:p>
            <a:endParaRPr lang="en-US"/>
          </a:p>
        </p:txBody>
      </p:sp>
      <p:sp>
        <p:nvSpPr>
          <p:cNvPr id="8" name="Text 5"/>
          <p:cNvSpPr/>
          <p:nvPr/>
        </p:nvSpPr>
        <p:spPr>
          <a:xfrm>
            <a:off x="682283" y="2249152"/>
            <a:ext cx="1558975" cy="194816"/>
          </a:xfrm>
          <a:prstGeom prst="rect">
            <a:avLst/>
          </a:prstGeom>
          <a:noFill/>
          <a:ln/>
        </p:spPr>
        <p:txBody>
          <a:bodyPr wrap="none" lIns="0" tIns="0" rIns="0" bIns="0" rtlCol="0" anchor="t"/>
          <a:lstStyle/>
          <a:p>
            <a:pPr marL="0" indent="0" algn="l">
              <a:lnSpc>
                <a:spcPts val="1500"/>
              </a:lnSpc>
              <a:buNone/>
            </a:pPr>
            <a:r>
              <a:rPr lang="en-US" sz="2000" dirty="0">
                <a:solidFill>
                  <a:srgbClr val="3B3535"/>
                </a:solidFill>
                <a:ea typeface="Alexandria Semi Bold" pitchFamily="34" charset="-122"/>
                <a:cs typeface="Alexandria Semi Bold" pitchFamily="34" charset="-120"/>
              </a:rPr>
              <a:t>Middle Layers</a:t>
            </a:r>
            <a:endParaRPr lang="en-US" sz="2000" dirty="0"/>
          </a:p>
        </p:txBody>
      </p:sp>
      <p:sp>
        <p:nvSpPr>
          <p:cNvPr id="9" name="Text 6"/>
          <p:cNvSpPr/>
          <p:nvPr/>
        </p:nvSpPr>
        <p:spPr>
          <a:xfrm>
            <a:off x="682283" y="2547627"/>
            <a:ext cx="3613026" cy="177701"/>
          </a:xfrm>
          <a:prstGeom prst="rect">
            <a:avLst/>
          </a:prstGeom>
          <a:noFill/>
          <a:ln/>
        </p:spPr>
        <p:txBody>
          <a:bodyPr wrap="none" lIns="0" tIns="0" rIns="0" bIns="0" rtlCol="0" anchor="t"/>
          <a:lstStyle/>
          <a:p>
            <a:pPr marL="0" indent="0" algn="l">
              <a:lnSpc>
                <a:spcPts val="1350"/>
              </a:lnSpc>
              <a:buNone/>
            </a:pPr>
            <a:r>
              <a:rPr lang="en-US" sz="1200" dirty="0">
                <a:solidFill>
                  <a:srgbClr val="3B3535"/>
                </a:solidFill>
                <a:ea typeface="Sora Light" pitchFamily="34" charset="-122"/>
                <a:cs typeface="Sora Light" pitchFamily="34" charset="-120"/>
              </a:rPr>
              <a:t>Capture textures, patterns, local motifs and parts.</a:t>
            </a:r>
            <a:endParaRPr lang="en-US" sz="1200" dirty="0"/>
          </a:p>
        </p:txBody>
      </p:sp>
      <p:sp>
        <p:nvSpPr>
          <p:cNvPr id="10" name="Shape 7"/>
          <p:cNvSpPr/>
          <p:nvPr/>
        </p:nvSpPr>
        <p:spPr>
          <a:xfrm>
            <a:off x="637858" y="2947454"/>
            <a:ext cx="118467" cy="890811"/>
          </a:xfrm>
          <a:prstGeom prst="roundRect">
            <a:avLst>
              <a:gd name="adj" fmla="val 42007"/>
            </a:avLst>
          </a:prstGeom>
          <a:solidFill>
            <a:srgbClr val="D9EDF2"/>
          </a:solidFill>
          <a:ln w="4763">
            <a:solidFill>
              <a:srgbClr val="BBC2DC"/>
            </a:solidFill>
            <a:prstDash val="solid"/>
          </a:ln>
        </p:spPr>
        <p:txBody>
          <a:bodyPr/>
          <a:lstStyle/>
          <a:p>
            <a:endParaRPr lang="en-US"/>
          </a:p>
        </p:txBody>
      </p:sp>
      <p:sp>
        <p:nvSpPr>
          <p:cNvPr id="11" name="Text 8"/>
          <p:cNvSpPr/>
          <p:nvPr/>
        </p:nvSpPr>
        <p:spPr>
          <a:xfrm>
            <a:off x="859984" y="3065921"/>
            <a:ext cx="1558975" cy="194816"/>
          </a:xfrm>
          <a:prstGeom prst="rect">
            <a:avLst/>
          </a:prstGeom>
          <a:noFill/>
          <a:ln/>
        </p:spPr>
        <p:txBody>
          <a:bodyPr wrap="none" lIns="0" tIns="0" rIns="0" bIns="0" rtlCol="0" anchor="t"/>
          <a:lstStyle/>
          <a:p>
            <a:pPr marL="0" indent="0" algn="l">
              <a:lnSpc>
                <a:spcPts val="1500"/>
              </a:lnSpc>
              <a:buNone/>
            </a:pPr>
            <a:r>
              <a:rPr lang="en-US" sz="2000" dirty="0">
                <a:solidFill>
                  <a:srgbClr val="3B3535"/>
                </a:solidFill>
                <a:ea typeface="Alexandria Semi Bold" pitchFamily="34" charset="-122"/>
                <a:cs typeface="Alexandria Semi Bold" pitchFamily="34" charset="-120"/>
              </a:rPr>
              <a:t>Deep Layers</a:t>
            </a:r>
            <a:endParaRPr lang="en-US" sz="2000" dirty="0"/>
          </a:p>
        </p:txBody>
      </p:sp>
      <p:sp>
        <p:nvSpPr>
          <p:cNvPr id="12" name="Text 9"/>
          <p:cNvSpPr/>
          <p:nvPr/>
        </p:nvSpPr>
        <p:spPr>
          <a:xfrm>
            <a:off x="859984" y="3364396"/>
            <a:ext cx="3435325" cy="355402"/>
          </a:xfrm>
          <a:prstGeom prst="rect">
            <a:avLst/>
          </a:prstGeom>
          <a:noFill/>
          <a:ln/>
        </p:spPr>
        <p:txBody>
          <a:bodyPr wrap="square" lIns="0" tIns="0" rIns="0" bIns="0" rtlCol="0" anchor="t"/>
          <a:lstStyle/>
          <a:p>
            <a:pPr marL="0" indent="0" algn="l">
              <a:lnSpc>
                <a:spcPts val="1350"/>
              </a:lnSpc>
              <a:buNone/>
            </a:pPr>
            <a:r>
              <a:rPr lang="en-US" sz="1200" dirty="0">
                <a:solidFill>
                  <a:srgbClr val="3B3535"/>
                </a:solidFill>
                <a:ea typeface="Sora Light" pitchFamily="34" charset="-122"/>
                <a:cs typeface="Sora Light" pitchFamily="34" charset="-120"/>
              </a:rPr>
              <a:t>Assemble higher-level shapes and object prototypes used for classification.</a:t>
            </a:r>
            <a:endParaRPr lang="en-US" sz="1200" dirty="0"/>
          </a:p>
        </p:txBody>
      </p:sp>
      <p:sp>
        <p:nvSpPr>
          <p:cNvPr id="13" name="Text 10"/>
          <p:cNvSpPr/>
          <p:nvPr/>
        </p:nvSpPr>
        <p:spPr>
          <a:xfrm>
            <a:off x="312437" y="4014832"/>
            <a:ext cx="4012853" cy="355402"/>
          </a:xfrm>
          <a:prstGeom prst="rect">
            <a:avLst/>
          </a:prstGeom>
          <a:noFill/>
          <a:ln/>
        </p:spPr>
        <p:txBody>
          <a:bodyPr wrap="square" lIns="0" tIns="0" rIns="0" bIns="0" rtlCol="0" anchor="t"/>
          <a:lstStyle/>
          <a:p>
            <a:pPr marL="0" indent="0" algn="l">
              <a:lnSpc>
                <a:spcPts val="1350"/>
              </a:lnSpc>
              <a:buNone/>
            </a:pPr>
            <a:r>
              <a:rPr lang="en-US" sz="1200" dirty="0">
                <a:solidFill>
                  <a:srgbClr val="3B3535"/>
                </a:solidFill>
                <a:ea typeface="Sora Light" pitchFamily="34" charset="-122"/>
                <a:cs typeface="Sora Light" pitchFamily="34" charset="-120"/>
              </a:rPr>
              <a:t>Feature maps: visualize activations per layer to understand hierarchical learning.</a:t>
            </a:r>
            <a:endParaRPr lang="en-US" sz="1200" dirty="0"/>
          </a:p>
        </p:txBody>
      </p:sp>
      <p:sp>
        <p:nvSpPr>
          <p:cNvPr id="19" name="Rectangle 18">
            <a:extLst>
              <a:ext uri="{FF2B5EF4-FFF2-40B4-BE49-F238E27FC236}">
                <a16:creationId xmlns:a16="http://schemas.microsoft.com/office/drawing/2014/main" id="{A929EDB6-C292-DE9D-7415-E40C497588F6}"/>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793070" y="736451"/>
            <a:ext cx="2850803" cy="356295"/>
          </a:xfrm>
          <a:prstGeom prst="rect">
            <a:avLst/>
          </a:prstGeom>
          <a:noFill/>
          <a:ln/>
        </p:spPr>
        <p:txBody>
          <a:bodyPr wrap="none" lIns="0" tIns="0" rIns="0" bIns="0" rtlCol="0" anchor="t"/>
          <a:lstStyle/>
          <a:p>
            <a:pPr indent="0">
              <a:lnSpc>
                <a:spcPts val="2600"/>
              </a:lnSpc>
              <a:buNone/>
            </a:pPr>
            <a:r>
              <a:rPr lang="en-US" sz="2200" dirty="0">
                <a:solidFill>
                  <a:srgbClr val="2E3C4E"/>
                </a:solidFill>
                <a:latin typeface="Host Grotesk Medium" pitchFamily="34" charset="0"/>
                <a:cs typeface="Host Grotesk Medium" pitchFamily="34" charset="-120"/>
              </a:rPr>
              <a:t>Advantages of VGG</a:t>
            </a: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3070" y="1363539"/>
            <a:ext cx="338510" cy="338510"/>
          </a:xfrm>
          <a:prstGeom prst="rect">
            <a:avLst/>
          </a:prstGeom>
        </p:spPr>
      </p:pic>
      <p:sp>
        <p:nvSpPr>
          <p:cNvPr id="4" name="Text 1"/>
          <p:cNvSpPr/>
          <p:nvPr/>
        </p:nvSpPr>
        <p:spPr>
          <a:xfrm>
            <a:off x="1793070" y="1871266"/>
            <a:ext cx="1781696" cy="222647"/>
          </a:xfrm>
          <a:prstGeom prst="rect">
            <a:avLst/>
          </a:prstGeom>
          <a:noFill/>
          <a:ln/>
        </p:spPr>
        <p:txBody>
          <a:bodyPr wrap="none" lIns="0" tIns="0" rIns="0" bIns="0" rtlCol="0" anchor="t"/>
          <a:lstStyle/>
          <a:p>
            <a:pPr marL="0" indent="0" algn="l">
              <a:lnSpc>
                <a:spcPts val="1750"/>
              </a:lnSpc>
              <a:buNone/>
            </a:pPr>
            <a:r>
              <a:rPr lang="en-US" sz="1400" b="1" dirty="0">
                <a:solidFill>
                  <a:srgbClr val="3B3535"/>
                </a:solidFill>
                <a:latin typeface="Alexandria Semi Bold" pitchFamily="34" charset="0"/>
                <a:ea typeface="Alexandria Semi Bold" pitchFamily="34" charset="-122"/>
                <a:cs typeface="Alexandria Semi Bold" pitchFamily="34" charset="-120"/>
              </a:rPr>
              <a:t>Uniform &amp; Intuitive</a:t>
            </a:r>
            <a:endParaRPr lang="en-US" sz="1400" b="1" dirty="0"/>
          </a:p>
        </p:txBody>
      </p:sp>
      <p:sp>
        <p:nvSpPr>
          <p:cNvPr id="5" name="Text 2"/>
          <p:cNvSpPr/>
          <p:nvPr/>
        </p:nvSpPr>
        <p:spPr>
          <a:xfrm>
            <a:off x="1793070" y="2175099"/>
            <a:ext cx="2759869" cy="433388"/>
          </a:xfrm>
          <a:prstGeom prst="rect">
            <a:avLst/>
          </a:prstGeom>
          <a:noFill/>
          <a:ln/>
        </p:spPr>
        <p:txBody>
          <a:bodyPr wrap="square" lIns="0" tIns="0" rIns="0" bIns="0" rtlCol="0" anchor="t"/>
          <a:lstStyle/>
          <a:p>
            <a:pPr marL="0" indent="0" algn="l">
              <a:lnSpc>
                <a:spcPts val="1700"/>
              </a:lnSpc>
              <a:buNone/>
            </a:pPr>
            <a:r>
              <a:rPr lang="en-US" sz="1050" b="1" dirty="0">
                <a:solidFill>
                  <a:srgbClr val="3B3535"/>
                </a:solidFill>
                <a:latin typeface="Sora Light" pitchFamily="34" charset="0"/>
                <a:ea typeface="Sora Light" pitchFamily="34" charset="-122"/>
                <a:cs typeface="Sora Light" pitchFamily="34" charset="-120"/>
              </a:rPr>
              <a:t>Consistent 3×3 conv blocks simplify design and interpretation.</a:t>
            </a:r>
            <a:endParaRPr lang="en-US" sz="1050" b="1"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3684" y="1363539"/>
            <a:ext cx="338510" cy="338510"/>
          </a:xfrm>
          <a:prstGeom prst="rect">
            <a:avLst/>
          </a:prstGeom>
        </p:spPr>
      </p:pic>
      <p:sp>
        <p:nvSpPr>
          <p:cNvPr id="7" name="Text 3"/>
          <p:cNvSpPr/>
          <p:nvPr/>
        </p:nvSpPr>
        <p:spPr>
          <a:xfrm>
            <a:off x="5293684" y="1871266"/>
            <a:ext cx="2238598" cy="222647"/>
          </a:xfrm>
          <a:prstGeom prst="rect">
            <a:avLst/>
          </a:prstGeom>
          <a:noFill/>
          <a:ln/>
        </p:spPr>
        <p:txBody>
          <a:bodyPr wrap="none" lIns="0" tIns="0" rIns="0" bIns="0" rtlCol="0" anchor="t"/>
          <a:lstStyle/>
          <a:p>
            <a:pPr marL="0" indent="0" algn="l">
              <a:lnSpc>
                <a:spcPts val="1750"/>
              </a:lnSpc>
              <a:buNone/>
            </a:pPr>
            <a:r>
              <a:rPr lang="en-US" sz="1400" b="1" dirty="0">
                <a:solidFill>
                  <a:srgbClr val="3B3535"/>
                </a:solidFill>
                <a:latin typeface="Alexandria Semi Bold" pitchFamily="34" charset="0"/>
                <a:ea typeface="Alexandria Semi Bold" pitchFamily="34" charset="-122"/>
                <a:cs typeface="Alexandria Semi Bold" pitchFamily="34" charset="-120"/>
              </a:rPr>
              <a:t>Strong Feature Extractor</a:t>
            </a:r>
            <a:endParaRPr lang="en-US" sz="1400" b="1" dirty="0"/>
          </a:p>
        </p:txBody>
      </p:sp>
      <p:sp>
        <p:nvSpPr>
          <p:cNvPr id="8" name="Text 4"/>
          <p:cNvSpPr/>
          <p:nvPr/>
        </p:nvSpPr>
        <p:spPr>
          <a:xfrm>
            <a:off x="5293684" y="2175099"/>
            <a:ext cx="3475561" cy="433388"/>
          </a:xfrm>
          <a:prstGeom prst="rect">
            <a:avLst/>
          </a:prstGeom>
          <a:noFill/>
          <a:ln/>
        </p:spPr>
        <p:txBody>
          <a:bodyPr wrap="square" lIns="0" tIns="0" rIns="0" bIns="0" rtlCol="0" anchor="t"/>
          <a:lstStyle/>
          <a:p>
            <a:pPr marL="0" indent="0" algn="l">
              <a:lnSpc>
                <a:spcPts val="1700"/>
              </a:lnSpc>
              <a:buNone/>
            </a:pPr>
            <a:r>
              <a:rPr lang="en-US" sz="1050" b="1" dirty="0">
                <a:solidFill>
                  <a:srgbClr val="3B3535"/>
                </a:solidFill>
                <a:latin typeface="Sora Light" pitchFamily="34" charset="0"/>
                <a:ea typeface="Sora Light" pitchFamily="34" charset="-122"/>
                <a:cs typeface="Sora Light" pitchFamily="34" charset="-120"/>
              </a:rPr>
              <a:t>Deep convolutional stacks produce robust mid-level representations for many tasks.</a:t>
            </a:r>
            <a:endParaRPr lang="en-US" sz="1050" b="1"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93070" y="2879279"/>
            <a:ext cx="338510" cy="338510"/>
          </a:xfrm>
          <a:prstGeom prst="rect">
            <a:avLst/>
          </a:prstGeom>
        </p:spPr>
      </p:pic>
      <p:sp>
        <p:nvSpPr>
          <p:cNvPr id="10" name="Text 5"/>
          <p:cNvSpPr/>
          <p:nvPr/>
        </p:nvSpPr>
        <p:spPr>
          <a:xfrm>
            <a:off x="1793070" y="3387006"/>
            <a:ext cx="2759869" cy="222647"/>
          </a:xfrm>
          <a:prstGeom prst="rect">
            <a:avLst/>
          </a:prstGeom>
          <a:noFill/>
          <a:ln/>
        </p:spPr>
        <p:txBody>
          <a:bodyPr wrap="none" lIns="0" tIns="0" rIns="0" bIns="0" rtlCol="0" anchor="t"/>
          <a:lstStyle/>
          <a:p>
            <a:pPr marL="0" indent="0" algn="l">
              <a:lnSpc>
                <a:spcPts val="1750"/>
              </a:lnSpc>
              <a:buNone/>
            </a:pPr>
            <a:r>
              <a:rPr lang="en-US" sz="1400" b="1" dirty="0">
                <a:solidFill>
                  <a:srgbClr val="3B3535"/>
                </a:solidFill>
                <a:latin typeface="Alexandria Semi Bold" pitchFamily="34" charset="0"/>
                <a:ea typeface="Alexandria Semi Bold" pitchFamily="34" charset="-122"/>
                <a:cs typeface="Alexandria Semi Bold" pitchFamily="34" charset="-120"/>
              </a:rPr>
              <a:t>Excellent for Transfer Learning</a:t>
            </a:r>
            <a:endParaRPr lang="en-US" sz="1400" b="1" dirty="0"/>
          </a:p>
        </p:txBody>
      </p:sp>
      <p:sp>
        <p:nvSpPr>
          <p:cNvPr id="11" name="Text 6"/>
          <p:cNvSpPr/>
          <p:nvPr/>
        </p:nvSpPr>
        <p:spPr>
          <a:xfrm>
            <a:off x="1793070" y="3690839"/>
            <a:ext cx="2759869" cy="433388"/>
          </a:xfrm>
          <a:prstGeom prst="rect">
            <a:avLst/>
          </a:prstGeom>
          <a:noFill/>
          <a:ln/>
        </p:spPr>
        <p:txBody>
          <a:bodyPr wrap="square" lIns="0" tIns="0" rIns="0" bIns="0" rtlCol="0" anchor="t"/>
          <a:lstStyle/>
          <a:p>
            <a:pPr marL="0" indent="0" algn="l">
              <a:lnSpc>
                <a:spcPts val="1700"/>
              </a:lnSpc>
              <a:buNone/>
            </a:pPr>
            <a:r>
              <a:rPr lang="en-US" sz="1050" b="1" dirty="0">
                <a:solidFill>
                  <a:srgbClr val="3B3535"/>
                </a:solidFill>
                <a:latin typeface="Sora Light" pitchFamily="34" charset="0"/>
                <a:ea typeface="Sora Light" pitchFamily="34" charset="-122"/>
                <a:cs typeface="Sora Light" pitchFamily="34" charset="-120"/>
              </a:rPr>
              <a:t>Pretrained VGG weights are widely used to fine-tune new tasks with limited data.</a:t>
            </a:r>
            <a:endParaRPr lang="en-US" sz="1050" b="1"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3684" y="2879279"/>
            <a:ext cx="338510" cy="338510"/>
          </a:xfrm>
          <a:prstGeom prst="rect">
            <a:avLst/>
          </a:prstGeom>
        </p:spPr>
      </p:pic>
      <p:sp>
        <p:nvSpPr>
          <p:cNvPr id="13" name="Text 7"/>
          <p:cNvSpPr/>
          <p:nvPr/>
        </p:nvSpPr>
        <p:spPr>
          <a:xfrm>
            <a:off x="5293684" y="3387006"/>
            <a:ext cx="2326258" cy="222647"/>
          </a:xfrm>
          <a:prstGeom prst="rect">
            <a:avLst/>
          </a:prstGeom>
          <a:noFill/>
          <a:ln/>
        </p:spPr>
        <p:txBody>
          <a:bodyPr wrap="none" lIns="0" tIns="0" rIns="0" bIns="0" rtlCol="0" anchor="t"/>
          <a:lstStyle/>
          <a:p>
            <a:pPr marL="0" indent="0" algn="l">
              <a:lnSpc>
                <a:spcPts val="1750"/>
              </a:lnSpc>
              <a:buNone/>
            </a:pPr>
            <a:r>
              <a:rPr lang="en-US" sz="1400" b="1" dirty="0">
                <a:solidFill>
                  <a:srgbClr val="3B3535"/>
                </a:solidFill>
                <a:latin typeface="Alexandria Semi Bold" pitchFamily="34" charset="0"/>
                <a:ea typeface="Alexandria Semi Bold" pitchFamily="34" charset="-122"/>
                <a:cs typeface="Alexandria Semi Bold" pitchFamily="34" charset="-120"/>
              </a:rPr>
              <a:t>High Accuracy (Historical)</a:t>
            </a:r>
            <a:endParaRPr lang="en-US" sz="1400" b="1" dirty="0"/>
          </a:p>
        </p:txBody>
      </p:sp>
      <p:sp>
        <p:nvSpPr>
          <p:cNvPr id="14" name="Text 8"/>
          <p:cNvSpPr/>
          <p:nvPr/>
        </p:nvSpPr>
        <p:spPr>
          <a:xfrm>
            <a:off x="5293684" y="3690839"/>
            <a:ext cx="3475561" cy="433388"/>
          </a:xfrm>
          <a:prstGeom prst="rect">
            <a:avLst/>
          </a:prstGeom>
          <a:noFill/>
          <a:ln/>
        </p:spPr>
        <p:txBody>
          <a:bodyPr wrap="square" lIns="0" tIns="0" rIns="0" bIns="0" rtlCol="0" anchor="t"/>
          <a:lstStyle/>
          <a:p>
            <a:pPr marL="0" indent="0" algn="l">
              <a:lnSpc>
                <a:spcPts val="1700"/>
              </a:lnSpc>
              <a:buNone/>
            </a:pPr>
            <a:r>
              <a:rPr lang="en-US" sz="1050" b="1" dirty="0">
                <a:solidFill>
                  <a:srgbClr val="3B3535"/>
                </a:solidFill>
                <a:latin typeface="Sora Light" pitchFamily="34" charset="0"/>
                <a:ea typeface="Sora Light" pitchFamily="34" charset="-122"/>
                <a:cs typeface="Sora Light" pitchFamily="34" charset="-120"/>
              </a:rPr>
              <a:t>Competitive ImageNet results at time of publication — influential baseline model.</a:t>
            </a:r>
            <a:endParaRPr lang="en-US" sz="1050" b="1" dirty="0"/>
          </a:p>
        </p:txBody>
      </p:sp>
      <p:sp>
        <p:nvSpPr>
          <p:cNvPr id="18" name="Rectangle 17">
            <a:extLst>
              <a:ext uri="{FF2B5EF4-FFF2-40B4-BE49-F238E27FC236}">
                <a16:creationId xmlns:a16="http://schemas.microsoft.com/office/drawing/2014/main" id="{395467B1-CE4A-211B-9B18-D81C9ACEA773}"/>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 0" descr="preencoded.png">
            <a:extLst>
              <a:ext uri="{FF2B5EF4-FFF2-40B4-BE49-F238E27FC236}">
                <a16:creationId xmlns:a16="http://schemas.microsoft.com/office/drawing/2014/main" id="{0638FF16-B836-1980-2B06-214D450C8689}"/>
              </a:ext>
            </a:extLst>
          </p:cNvPr>
          <p:cNvPicPr>
            <a:picLocks noChangeAspect="1"/>
          </p:cNvPicPr>
          <p:nvPr/>
        </p:nvPicPr>
        <p:blipFill>
          <a:blip r:embed="rId7"/>
          <a:srcRect r="50054"/>
          <a:stretch>
            <a:fillRect/>
          </a:stretch>
        </p:blipFill>
        <p:spPr>
          <a:xfrm>
            <a:off x="0" y="0"/>
            <a:ext cx="1712626"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44326" y="497235"/>
            <a:ext cx="2672581" cy="334119"/>
          </a:xfrm>
          <a:prstGeom prst="rect">
            <a:avLst/>
          </a:prstGeom>
          <a:noFill/>
          <a:ln/>
        </p:spPr>
        <p:txBody>
          <a:bodyPr wrap="none" lIns="0" tIns="0" rIns="0" bIns="0" rtlCol="0" anchor="t"/>
          <a:lstStyle/>
          <a:p>
            <a:pPr>
              <a:lnSpc>
                <a:spcPts val="2600"/>
              </a:lnSpc>
            </a:pPr>
            <a:r>
              <a:rPr lang="en-US" sz="2200" dirty="0">
                <a:solidFill>
                  <a:srgbClr val="2E3C4E"/>
                </a:solidFill>
                <a:latin typeface="Host Grotesk Medium" pitchFamily="34" charset="0"/>
                <a:cs typeface="Host Grotesk Medium" pitchFamily="34" charset="-120"/>
              </a:rPr>
              <a:t>Limitations of VGG</a:t>
            </a:r>
          </a:p>
        </p:txBody>
      </p:sp>
      <p:sp>
        <p:nvSpPr>
          <p:cNvPr id="4" name="Shape 1"/>
          <p:cNvSpPr/>
          <p:nvPr/>
        </p:nvSpPr>
        <p:spPr>
          <a:xfrm>
            <a:off x="677676" y="1219767"/>
            <a:ext cx="2141041" cy="1200522"/>
          </a:xfrm>
          <a:prstGeom prst="roundRect">
            <a:avLst>
              <a:gd name="adj" fmla="val 5713"/>
            </a:avLst>
          </a:prstGeom>
          <a:solidFill>
            <a:srgbClr val="FFFAFA"/>
          </a:solidFill>
          <a:ln w="14288">
            <a:solidFill>
              <a:srgbClr val="BBC2DC"/>
            </a:solidFill>
            <a:prstDash val="solid"/>
          </a:ln>
        </p:spPr>
        <p:txBody>
          <a:bodyPr/>
          <a:lstStyle/>
          <a:p>
            <a:endParaRPr lang="en-US"/>
          </a:p>
        </p:txBody>
      </p:sp>
      <p:sp>
        <p:nvSpPr>
          <p:cNvPr id="5" name="Shape 2"/>
          <p:cNvSpPr/>
          <p:nvPr/>
        </p:nvSpPr>
        <p:spPr>
          <a:xfrm>
            <a:off x="663389" y="1219767"/>
            <a:ext cx="57150" cy="1200522"/>
          </a:xfrm>
          <a:prstGeom prst="roundRect">
            <a:avLst>
              <a:gd name="adj" fmla="val 93297"/>
            </a:avLst>
          </a:prstGeom>
          <a:solidFill>
            <a:srgbClr val="D9EDF2"/>
          </a:solidFill>
          <a:ln/>
        </p:spPr>
        <p:txBody>
          <a:bodyPr/>
          <a:lstStyle/>
          <a:p>
            <a:endParaRPr lang="en-US"/>
          </a:p>
        </p:txBody>
      </p:sp>
      <p:sp>
        <p:nvSpPr>
          <p:cNvPr id="6" name="Text 3"/>
          <p:cNvSpPr/>
          <p:nvPr/>
        </p:nvSpPr>
        <p:spPr>
          <a:xfrm>
            <a:off x="861777" y="1361005"/>
            <a:ext cx="1670372" cy="208806"/>
          </a:xfrm>
          <a:prstGeom prst="rect">
            <a:avLst/>
          </a:prstGeom>
          <a:noFill/>
          <a:ln/>
        </p:spPr>
        <p:txBody>
          <a:bodyPr wrap="none" lIns="0" tIns="0" rIns="0" bIns="0" rtlCol="0" anchor="t"/>
          <a:lstStyle/>
          <a:p>
            <a:pPr marL="0" indent="0" algn="l">
              <a:lnSpc>
                <a:spcPts val="1600"/>
              </a:lnSpc>
              <a:buNone/>
            </a:pPr>
            <a:r>
              <a:rPr lang="en-US" sz="1300" b="1" dirty="0">
                <a:solidFill>
                  <a:srgbClr val="3B3535"/>
                </a:solidFill>
                <a:latin typeface="Alexandria Semi Bold" pitchFamily="34" charset="0"/>
                <a:ea typeface="Alexandria Semi Bold" pitchFamily="34" charset="-122"/>
                <a:cs typeface="Alexandria Semi Bold" pitchFamily="34" charset="-120"/>
              </a:rPr>
              <a:t>Parameter Count</a:t>
            </a:r>
            <a:endParaRPr lang="en-US" sz="1300" b="1" dirty="0"/>
          </a:p>
        </p:txBody>
      </p:sp>
      <p:sp>
        <p:nvSpPr>
          <p:cNvPr id="7" name="Text 4"/>
          <p:cNvSpPr/>
          <p:nvPr/>
        </p:nvSpPr>
        <p:spPr>
          <a:xfrm>
            <a:off x="861777" y="1688799"/>
            <a:ext cx="1815703" cy="590252"/>
          </a:xfrm>
          <a:prstGeom prst="rect">
            <a:avLst/>
          </a:prstGeom>
          <a:noFill/>
          <a:ln/>
        </p:spPr>
        <p:txBody>
          <a:bodyPr wrap="square" lIns="0" tIns="0" rIns="0" bIns="0" rtlCol="0" anchor="t"/>
          <a:lstStyle/>
          <a:p>
            <a:pPr marL="0" indent="0" algn="l">
              <a:lnSpc>
                <a:spcPts val="1500"/>
              </a:lnSpc>
              <a:buNone/>
            </a:pPr>
            <a:r>
              <a:rPr lang="en-US" sz="950" b="1" dirty="0">
                <a:solidFill>
                  <a:srgbClr val="3B3535"/>
                </a:solidFill>
                <a:latin typeface="Sora Light" pitchFamily="34" charset="0"/>
                <a:ea typeface="Sora Light" pitchFamily="34" charset="-122"/>
                <a:cs typeface="Sora Light" pitchFamily="34" charset="-120"/>
              </a:rPr>
              <a:t>~138M parameters (VGG16) — storage and download cost is high.</a:t>
            </a:r>
            <a:endParaRPr lang="en-US" sz="950" b="1" dirty="0"/>
          </a:p>
        </p:txBody>
      </p:sp>
      <p:sp>
        <p:nvSpPr>
          <p:cNvPr id="8" name="Shape 5"/>
          <p:cNvSpPr/>
          <p:nvPr/>
        </p:nvSpPr>
        <p:spPr>
          <a:xfrm>
            <a:off x="3417392" y="1219767"/>
            <a:ext cx="2141041" cy="1200522"/>
          </a:xfrm>
          <a:prstGeom prst="roundRect">
            <a:avLst>
              <a:gd name="adj" fmla="val 5713"/>
            </a:avLst>
          </a:prstGeom>
          <a:solidFill>
            <a:srgbClr val="FFFAFA"/>
          </a:solidFill>
          <a:ln w="14288">
            <a:solidFill>
              <a:srgbClr val="BBC2DC"/>
            </a:solidFill>
            <a:prstDash val="solid"/>
          </a:ln>
        </p:spPr>
        <p:txBody>
          <a:bodyPr/>
          <a:lstStyle/>
          <a:p>
            <a:endParaRPr lang="en-US"/>
          </a:p>
        </p:txBody>
      </p:sp>
      <p:sp>
        <p:nvSpPr>
          <p:cNvPr id="9" name="Shape 6"/>
          <p:cNvSpPr/>
          <p:nvPr/>
        </p:nvSpPr>
        <p:spPr>
          <a:xfrm>
            <a:off x="3403104" y="1219767"/>
            <a:ext cx="57150" cy="1200522"/>
          </a:xfrm>
          <a:prstGeom prst="roundRect">
            <a:avLst>
              <a:gd name="adj" fmla="val 93297"/>
            </a:avLst>
          </a:prstGeom>
          <a:solidFill>
            <a:srgbClr val="D9EDF2"/>
          </a:solidFill>
          <a:ln/>
        </p:spPr>
        <p:txBody>
          <a:bodyPr/>
          <a:lstStyle/>
          <a:p>
            <a:endParaRPr lang="en-US"/>
          </a:p>
        </p:txBody>
      </p:sp>
      <p:sp>
        <p:nvSpPr>
          <p:cNvPr id="10" name="Text 7"/>
          <p:cNvSpPr/>
          <p:nvPr/>
        </p:nvSpPr>
        <p:spPr>
          <a:xfrm>
            <a:off x="3601492" y="1361005"/>
            <a:ext cx="1694408" cy="208806"/>
          </a:xfrm>
          <a:prstGeom prst="rect">
            <a:avLst/>
          </a:prstGeom>
          <a:noFill/>
          <a:ln/>
        </p:spPr>
        <p:txBody>
          <a:bodyPr wrap="none" lIns="0" tIns="0" rIns="0" bIns="0" rtlCol="0" anchor="t"/>
          <a:lstStyle/>
          <a:p>
            <a:pPr marL="0" indent="0" algn="l">
              <a:lnSpc>
                <a:spcPts val="1600"/>
              </a:lnSpc>
              <a:buNone/>
            </a:pPr>
            <a:r>
              <a:rPr lang="en-US" sz="1300" b="1" dirty="0">
                <a:solidFill>
                  <a:srgbClr val="3B3535"/>
                </a:solidFill>
                <a:latin typeface="Alexandria Semi Bold" pitchFamily="34" charset="0"/>
                <a:ea typeface="Alexandria Semi Bold" pitchFamily="34" charset="-122"/>
                <a:cs typeface="Alexandria Semi Bold" pitchFamily="34" charset="-120"/>
              </a:rPr>
              <a:t>Compute &amp; Memory</a:t>
            </a:r>
            <a:endParaRPr lang="en-US" sz="1300" b="1" dirty="0"/>
          </a:p>
        </p:txBody>
      </p:sp>
      <p:sp>
        <p:nvSpPr>
          <p:cNvPr id="11" name="Text 8"/>
          <p:cNvSpPr/>
          <p:nvPr/>
        </p:nvSpPr>
        <p:spPr>
          <a:xfrm>
            <a:off x="3601492" y="1688799"/>
            <a:ext cx="1815703" cy="590252"/>
          </a:xfrm>
          <a:prstGeom prst="rect">
            <a:avLst/>
          </a:prstGeom>
          <a:noFill/>
          <a:ln/>
        </p:spPr>
        <p:txBody>
          <a:bodyPr wrap="square" lIns="0" tIns="0" rIns="0" bIns="0" rtlCol="0" anchor="t"/>
          <a:lstStyle/>
          <a:p>
            <a:pPr marL="0" indent="0" algn="l">
              <a:lnSpc>
                <a:spcPts val="1500"/>
              </a:lnSpc>
              <a:buNone/>
            </a:pPr>
            <a:r>
              <a:rPr lang="en-US" sz="950" b="1" dirty="0">
                <a:solidFill>
                  <a:srgbClr val="3B3535"/>
                </a:solidFill>
                <a:latin typeface="Sora Light" pitchFamily="34" charset="0"/>
                <a:ea typeface="Sora Light" pitchFamily="34" charset="-122"/>
                <a:cs typeface="Sora Light" pitchFamily="34" charset="-120"/>
              </a:rPr>
              <a:t>Slow to train and heavy at inference — needs GPUs and large RAM.</a:t>
            </a:r>
            <a:endParaRPr lang="en-US" sz="950" b="1" dirty="0"/>
          </a:p>
        </p:txBody>
      </p:sp>
      <p:sp>
        <p:nvSpPr>
          <p:cNvPr id="12" name="Shape 9"/>
          <p:cNvSpPr/>
          <p:nvPr/>
        </p:nvSpPr>
        <p:spPr>
          <a:xfrm>
            <a:off x="677676" y="2998300"/>
            <a:ext cx="2141041" cy="1200522"/>
          </a:xfrm>
          <a:prstGeom prst="roundRect">
            <a:avLst>
              <a:gd name="adj" fmla="val 5713"/>
            </a:avLst>
          </a:prstGeom>
          <a:solidFill>
            <a:srgbClr val="FFFAFA"/>
          </a:solidFill>
          <a:ln w="14288">
            <a:solidFill>
              <a:srgbClr val="BBC2DC"/>
            </a:solidFill>
            <a:prstDash val="solid"/>
          </a:ln>
        </p:spPr>
        <p:txBody>
          <a:bodyPr/>
          <a:lstStyle/>
          <a:p>
            <a:endParaRPr lang="en-US"/>
          </a:p>
        </p:txBody>
      </p:sp>
      <p:sp>
        <p:nvSpPr>
          <p:cNvPr id="13" name="Shape 10"/>
          <p:cNvSpPr/>
          <p:nvPr/>
        </p:nvSpPr>
        <p:spPr>
          <a:xfrm>
            <a:off x="663389" y="2998300"/>
            <a:ext cx="57150" cy="1200522"/>
          </a:xfrm>
          <a:prstGeom prst="roundRect">
            <a:avLst>
              <a:gd name="adj" fmla="val 93297"/>
            </a:avLst>
          </a:prstGeom>
          <a:solidFill>
            <a:srgbClr val="D9EDF2"/>
          </a:solidFill>
          <a:ln/>
        </p:spPr>
        <p:txBody>
          <a:bodyPr/>
          <a:lstStyle/>
          <a:p>
            <a:endParaRPr lang="en-US"/>
          </a:p>
        </p:txBody>
      </p:sp>
      <p:sp>
        <p:nvSpPr>
          <p:cNvPr id="14" name="Text 11"/>
          <p:cNvSpPr/>
          <p:nvPr/>
        </p:nvSpPr>
        <p:spPr>
          <a:xfrm>
            <a:off x="861777" y="3139538"/>
            <a:ext cx="1670372" cy="208806"/>
          </a:xfrm>
          <a:prstGeom prst="rect">
            <a:avLst/>
          </a:prstGeom>
          <a:noFill/>
          <a:ln/>
        </p:spPr>
        <p:txBody>
          <a:bodyPr wrap="none" lIns="0" tIns="0" rIns="0" bIns="0" rtlCol="0" anchor="t"/>
          <a:lstStyle/>
          <a:p>
            <a:pPr marL="0" indent="0" algn="l">
              <a:lnSpc>
                <a:spcPts val="1600"/>
              </a:lnSpc>
              <a:buNone/>
            </a:pPr>
            <a:r>
              <a:rPr lang="en-US" sz="1300" b="1" dirty="0">
                <a:solidFill>
                  <a:srgbClr val="3B3535"/>
                </a:solidFill>
                <a:latin typeface="Alexandria Semi Bold" pitchFamily="34" charset="0"/>
                <a:ea typeface="Alexandria Semi Bold" pitchFamily="34" charset="-122"/>
                <a:cs typeface="Alexandria Semi Bold" pitchFamily="34" charset="-120"/>
              </a:rPr>
              <a:t>Overfitting Risk</a:t>
            </a:r>
            <a:endParaRPr lang="en-US" sz="1300" b="1" dirty="0"/>
          </a:p>
        </p:txBody>
      </p:sp>
      <p:sp>
        <p:nvSpPr>
          <p:cNvPr id="15" name="Text 12"/>
          <p:cNvSpPr/>
          <p:nvPr/>
        </p:nvSpPr>
        <p:spPr>
          <a:xfrm>
            <a:off x="861777" y="3467332"/>
            <a:ext cx="1815703" cy="590252"/>
          </a:xfrm>
          <a:prstGeom prst="rect">
            <a:avLst/>
          </a:prstGeom>
          <a:noFill/>
          <a:ln/>
        </p:spPr>
        <p:txBody>
          <a:bodyPr wrap="square" lIns="0" tIns="0" rIns="0" bIns="0" rtlCol="0" anchor="t"/>
          <a:lstStyle/>
          <a:p>
            <a:pPr marL="0" indent="0" algn="l">
              <a:lnSpc>
                <a:spcPts val="1500"/>
              </a:lnSpc>
              <a:buNone/>
            </a:pPr>
            <a:r>
              <a:rPr lang="en-US" sz="950" b="1" dirty="0">
                <a:solidFill>
                  <a:srgbClr val="3B3535"/>
                </a:solidFill>
                <a:latin typeface="Sora Light" pitchFamily="34" charset="0"/>
                <a:ea typeface="Sora Light" pitchFamily="34" charset="-122"/>
                <a:cs typeface="Sora Light" pitchFamily="34" charset="-120"/>
              </a:rPr>
              <a:t>Large capacity can overfit small datasets without regularization.</a:t>
            </a:r>
            <a:endParaRPr lang="en-US" sz="950" b="1" dirty="0"/>
          </a:p>
        </p:txBody>
      </p:sp>
      <p:sp>
        <p:nvSpPr>
          <p:cNvPr id="16" name="Shape 13"/>
          <p:cNvSpPr/>
          <p:nvPr/>
        </p:nvSpPr>
        <p:spPr>
          <a:xfrm>
            <a:off x="3417392" y="2998300"/>
            <a:ext cx="2141041" cy="1200522"/>
          </a:xfrm>
          <a:prstGeom prst="roundRect">
            <a:avLst>
              <a:gd name="adj" fmla="val 5713"/>
            </a:avLst>
          </a:prstGeom>
          <a:solidFill>
            <a:srgbClr val="FFFAFA"/>
          </a:solidFill>
          <a:ln w="14288">
            <a:solidFill>
              <a:srgbClr val="BBC2DC"/>
            </a:solidFill>
            <a:prstDash val="solid"/>
          </a:ln>
        </p:spPr>
        <p:txBody>
          <a:bodyPr/>
          <a:lstStyle/>
          <a:p>
            <a:endParaRPr lang="en-US"/>
          </a:p>
        </p:txBody>
      </p:sp>
      <p:sp>
        <p:nvSpPr>
          <p:cNvPr id="17" name="Shape 14"/>
          <p:cNvSpPr/>
          <p:nvPr/>
        </p:nvSpPr>
        <p:spPr>
          <a:xfrm>
            <a:off x="3403104" y="2998300"/>
            <a:ext cx="57150" cy="1200522"/>
          </a:xfrm>
          <a:prstGeom prst="roundRect">
            <a:avLst>
              <a:gd name="adj" fmla="val 93297"/>
            </a:avLst>
          </a:prstGeom>
          <a:solidFill>
            <a:srgbClr val="D9EDF2"/>
          </a:solidFill>
          <a:ln/>
        </p:spPr>
        <p:txBody>
          <a:bodyPr/>
          <a:lstStyle/>
          <a:p>
            <a:endParaRPr lang="en-US"/>
          </a:p>
        </p:txBody>
      </p:sp>
      <p:sp>
        <p:nvSpPr>
          <p:cNvPr id="18" name="Text 15"/>
          <p:cNvSpPr/>
          <p:nvPr/>
        </p:nvSpPr>
        <p:spPr>
          <a:xfrm>
            <a:off x="3601492" y="3139538"/>
            <a:ext cx="1705942" cy="208806"/>
          </a:xfrm>
          <a:prstGeom prst="rect">
            <a:avLst/>
          </a:prstGeom>
          <a:noFill/>
          <a:ln/>
        </p:spPr>
        <p:txBody>
          <a:bodyPr wrap="none" lIns="0" tIns="0" rIns="0" bIns="0" rtlCol="0" anchor="t"/>
          <a:lstStyle/>
          <a:p>
            <a:pPr marL="0" indent="0" algn="l">
              <a:lnSpc>
                <a:spcPts val="1600"/>
              </a:lnSpc>
              <a:buNone/>
            </a:pPr>
            <a:r>
              <a:rPr lang="en-US" sz="1300" b="1" dirty="0">
                <a:solidFill>
                  <a:srgbClr val="3B3535"/>
                </a:solidFill>
                <a:latin typeface="Alexandria Semi Bold" pitchFamily="34" charset="0"/>
                <a:ea typeface="Alexandria Semi Bold" pitchFamily="34" charset="-122"/>
                <a:cs typeface="Alexandria Semi Bold" pitchFamily="34" charset="-120"/>
              </a:rPr>
              <a:t>Not State-of-the-Art</a:t>
            </a:r>
            <a:endParaRPr lang="en-US" sz="1300" b="1" dirty="0"/>
          </a:p>
        </p:txBody>
      </p:sp>
      <p:sp>
        <p:nvSpPr>
          <p:cNvPr id="19" name="Text 16"/>
          <p:cNvSpPr/>
          <p:nvPr/>
        </p:nvSpPr>
        <p:spPr>
          <a:xfrm>
            <a:off x="3601492" y="3467332"/>
            <a:ext cx="1815703" cy="590252"/>
          </a:xfrm>
          <a:prstGeom prst="rect">
            <a:avLst/>
          </a:prstGeom>
          <a:noFill/>
          <a:ln/>
        </p:spPr>
        <p:txBody>
          <a:bodyPr wrap="square" lIns="0" tIns="0" rIns="0" bIns="0" rtlCol="0" anchor="t"/>
          <a:lstStyle/>
          <a:p>
            <a:pPr marL="0" indent="0" algn="l">
              <a:lnSpc>
                <a:spcPts val="1500"/>
              </a:lnSpc>
              <a:buNone/>
            </a:pPr>
            <a:r>
              <a:rPr lang="en-US" sz="950" b="1" dirty="0">
                <a:solidFill>
                  <a:srgbClr val="3B3535"/>
                </a:solidFill>
                <a:latin typeface="Sora Light" pitchFamily="34" charset="0"/>
                <a:ea typeface="Sora Light" pitchFamily="34" charset="-122"/>
                <a:cs typeface="Sora Light" pitchFamily="34" charset="-120"/>
              </a:rPr>
              <a:t>Modern architectures (ResNet, EfficientNet) improve accuracy/efficiency.</a:t>
            </a:r>
            <a:endParaRPr lang="en-US" sz="950" b="1" dirty="0"/>
          </a:p>
        </p:txBody>
      </p:sp>
      <p:sp>
        <p:nvSpPr>
          <p:cNvPr id="23" name="Rectangle 22">
            <a:extLst>
              <a:ext uri="{FF2B5EF4-FFF2-40B4-BE49-F238E27FC236}">
                <a16:creationId xmlns:a16="http://schemas.microsoft.com/office/drawing/2014/main" id="{43E96128-C77A-F46A-F9A6-D954B2658281}"/>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Image 0" descr="preencoded.png">
            <a:extLst>
              <a:ext uri="{FF2B5EF4-FFF2-40B4-BE49-F238E27FC236}">
                <a16:creationId xmlns:a16="http://schemas.microsoft.com/office/drawing/2014/main" id="{768189C1-0556-CA1B-4D6C-A380F7DEB372}"/>
              </a:ext>
            </a:extLst>
          </p:cNvPr>
          <p:cNvPicPr>
            <a:picLocks noChangeAspect="1"/>
          </p:cNvPicPr>
          <p:nvPr/>
        </p:nvPicPr>
        <p:blipFill>
          <a:blip r:embed="rId3"/>
          <a:srcRect l="52268"/>
          <a:stretch>
            <a:fillRect/>
          </a:stretch>
        </p:blipFill>
        <p:spPr>
          <a:xfrm>
            <a:off x="7207458" y="0"/>
            <a:ext cx="1936542"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A3CAB99-3E00-9A16-B717-4C4ED4C682B6}"/>
              </a:ext>
            </a:extLst>
          </p:cNvPr>
          <p:cNvGraphicFramePr>
            <a:graphicFrameLocks noGrp="1"/>
          </p:cNvGraphicFramePr>
          <p:nvPr>
            <p:extLst>
              <p:ext uri="{D42A27DB-BD31-4B8C-83A1-F6EECF244321}">
                <p14:modId xmlns:p14="http://schemas.microsoft.com/office/powerpoint/2010/main" val="237907719"/>
              </p:ext>
            </p:extLst>
          </p:nvPr>
        </p:nvGraphicFramePr>
        <p:xfrm>
          <a:off x="445490" y="1284081"/>
          <a:ext cx="8253020" cy="2388867"/>
        </p:xfrm>
        <a:graphic>
          <a:graphicData uri="http://schemas.openxmlformats.org/drawingml/2006/table">
            <a:tbl>
              <a:tblPr firstRow="1" firstCol="1" bandRow="1">
                <a:tableStyleId>{BDBED569-4797-4DF1-A0F4-6AAB3CD982D8}</a:tableStyleId>
              </a:tblPr>
              <a:tblGrid>
                <a:gridCol w="1414567">
                  <a:extLst>
                    <a:ext uri="{9D8B030D-6E8A-4147-A177-3AD203B41FA5}">
                      <a16:colId xmlns:a16="http://schemas.microsoft.com/office/drawing/2014/main" val="3799428513"/>
                    </a:ext>
                  </a:extLst>
                </a:gridCol>
                <a:gridCol w="1817315">
                  <a:extLst>
                    <a:ext uri="{9D8B030D-6E8A-4147-A177-3AD203B41FA5}">
                      <a16:colId xmlns:a16="http://schemas.microsoft.com/office/drawing/2014/main" val="1706476641"/>
                    </a:ext>
                  </a:extLst>
                </a:gridCol>
                <a:gridCol w="2198605">
                  <a:extLst>
                    <a:ext uri="{9D8B030D-6E8A-4147-A177-3AD203B41FA5}">
                      <a16:colId xmlns:a16="http://schemas.microsoft.com/office/drawing/2014/main" val="3729542651"/>
                    </a:ext>
                  </a:extLst>
                </a:gridCol>
                <a:gridCol w="2822533">
                  <a:extLst>
                    <a:ext uri="{9D8B030D-6E8A-4147-A177-3AD203B41FA5}">
                      <a16:colId xmlns:a16="http://schemas.microsoft.com/office/drawing/2014/main" val="3722591012"/>
                    </a:ext>
                  </a:extLst>
                </a:gridCol>
              </a:tblGrid>
              <a:tr h="550950">
                <a:tc>
                  <a:txBody>
                    <a:bodyPr/>
                    <a:lstStyle/>
                    <a:p>
                      <a:pPr marL="0" marR="0">
                        <a:buNone/>
                      </a:pPr>
                      <a:r>
                        <a:rPr lang="en-US" sz="1200" kern="0" dirty="0">
                          <a:effectLst/>
                        </a:rPr>
                        <a:t>Architecture</a:t>
                      </a:r>
                      <a:endParaRPr lang="en-US" sz="1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Main Idea</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Advantages</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buNone/>
                      </a:pPr>
                      <a:r>
                        <a:rPr lang="en-US" sz="1200" kern="0">
                          <a:effectLst/>
                        </a:rPr>
                        <a:t>Limitations</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78774833"/>
                  </a:ext>
                </a:extLst>
              </a:tr>
              <a:tr h="612639">
                <a:tc>
                  <a:txBody>
                    <a:bodyPr/>
                    <a:lstStyle/>
                    <a:p>
                      <a:pPr marL="0" marR="0">
                        <a:buNone/>
                      </a:pPr>
                      <a:r>
                        <a:rPr lang="en-US" sz="1200" kern="0" dirty="0" err="1">
                          <a:effectLst/>
                        </a:rPr>
                        <a:t>AlexNet</a:t>
                      </a:r>
                      <a:endParaRPr lang="en-US" sz="1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Larger filters and fewer layers</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Faster training</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buNone/>
                      </a:pPr>
                      <a:r>
                        <a:rPr lang="en-US" sz="1200" kern="0">
                          <a:effectLst/>
                        </a:rPr>
                        <a:t>Less feature extraction capability</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016847443"/>
                  </a:ext>
                </a:extLst>
              </a:tr>
              <a:tr h="612639">
                <a:tc>
                  <a:txBody>
                    <a:bodyPr/>
                    <a:lstStyle/>
                    <a:p>
                      <a:pPr marL="0" marR="0">
                        <a:buNone/>
                      </a:pPr>
                      <a:r>
                        <a:rPr lang="en-US" sz="1200" kern="0">
                          <a:effectLst/>
                        </a:rPr>
                        <a:t>VGGNet</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Deep architecture with repeated 3×3 filters</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Better hierarchical feature learning</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buNone/>
                      </a:pPr>
                      <a:r>
                        <a:rPr lang="en-US" sz="1200" kern="0">
                          <a:effectLst/>
                        </a:rPr>
                        <a:t>Heavy computational cost</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95188874"/>
                  </a:ext>
                </a:extLst>
              </a:tr>
              <a:tr h="612639">
                <a:tc>
                  <a:txBody>
                    <a:bodyPr/>
                    <a:lstStyle/>
                    <a:p>
                      <a:pPr marL="0" marR="0">
                        <a:buNone/>
                      </a:pPr>
                      <a:r>
                        <a:rPr lang="en-US" sz="1200" kern="0">
                          <a:effectLst/>
                        </a:rPr>
                        <a:t>ResNet</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Skip connections</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buNone/>
                      </a:pPr>
                      <a:r>
                        <a:rPr lang="en-US" sz="1200" kern="0">
                          <a:effectLst/>
                        </a:rPr>
                        <a:t>Solves vanishing gradient problem</a:t>
                      </a:r>
                      <a:endParaRPr lang="en-US" sz="1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buNone/>
                      </a:pPr>
                      <a:r>
                        <a:rPr lang="en-US" sz="1200" kern="0" dirty="0">
                          <a:effectLst/>
                        </a:rPr>
                        <a:t>More complex architecture</a:t>
                      </a:r>
                      <a:endParaRPr lang="en-US" sz="1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09074868"/>
                  </a:ext>
                </a:extLst>
              </a:tr>
            </a:tbl>
          </a:graphicData>
        </a:graphic>
      </p:graphicFrame>
      <p:sp>
        <p:nvSpPr>
          <p:cNvPr id="4" name="TextBox 3">
            <a:extLst>
              <a:ext uri="{FF2B5EF4-FFF2-40B4-BE49-F238E27FC236}">
                <a16:creationId xmlns:a16="http://schemas.microsoft.com/office/drawing/2014/main" id="{A67B5E9F-7275-AC63-F167-56AA4F62908A}"/>
              </a:ext>
            </a:extLst>
          </p:cNvPr>
          <p:cNvSpPr txBox="1"/>
          <p:nvPr/>
        </p:nvSpPr>
        <p:spPr>
          <a:xfrm>
            <a:off x="2182941" y="547142"/>
            <a:ext cx="4778116" cy="425758"/>
          </a:xfrm>
          <a:prstGeom prst="rect">
            <a:avLst/>
          </a:prstGeom>
          <a:noFill/>
        </p:spPr>
        <p:txBody>
          <a:bodyPr wrap="square">
            <a:spAutoFit/>
          </a:bodyPr>
          <a:lstStyle/>
          <a:p>
            <a:pPr marR="0">
              <a:lnSpc>
                <a:spcPts val="2600"/>
              </a:lnSpc>
              <a:spcBef>
                <a:spcPts val="1800"/>
              </a:spcBef>
              <a:spcAft>
                <a:spcPts val="400"/>
              </a:spcAft>
            </a:pPr>
            <a:r>
              <a:rPr lang="en-US" sz="2200" dirty="0">
                <a:solidFill>
                  <a:srgbClr val="2E3C4E"/>
                </a:solidFill>
                <a:latin typeface="Host Grotesk Medium" pitchFamily="34" charset="0"/>
                <a:cs typeface="Host Grotesk Medium" pitchFamily="34" charset="-120"/>
              </a:rPr>
              <a:t>Comparison with Other Architectures</a:t>
            </a:r>
          </a:p>
        </p:txBody>
      </p:sp>
      <p:sp>
        <p:nvSpPr>
          <p:cNvPr id="5" name="Rectangle 4">
            <a:extLst>
              <a:ext uri="{FF2B5EF4-FFF2-40B4-BE49-F238E27FC236}">
                <a16:creationId xmlns:a16="http://schemas.microsoft.com/office/drawing/2014/main" id="{173ECB4C-9446-467E-C685-41EC0DF0AF5B}"/>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hape 2">
            <a:extLst>
              <a:ext uri="{FF2B5EF4-FFF2-40B4-BE49-F238E27FC236}">
                <a16:creationId xmlns:a16="http://schemas.microsoft.com/office/drawing/2014/main" id="{3E08683F-E8C5-EBB5-5205-3BF48A9D78EB}"/>
              </a:ext>
            </a:extLst>
          </p:cNvPr>
          <p:cNvSpPr/>
          <p:nvPr/>
        </p:nvSpPr>
        <p:spPr>
          <a:xfrm>
            <a:off x="988412" y="3984130"/>
            <a:ext cx="7360171" cy="434716"/>
          </a:xfrm>
          <a:prstGeom prst="roundRect">
            <a:avLst>
              <a:gd name="adj" fmla="val 6265"/>
            </a:avLst>
          </a:prstGeom>
          <a:solidFill>
            <a:srgbClr val="FFFAFA"/>
          </a:solidFill>
          <a:ln w="19050">
            <a:solidFill>
              <a:srgbClr val="85B4DF"/>
            </a:solidFill>
            <a:prstDash val="solid"/>
          </a:ln>
        </p:spPr>
        <p:txBody>
          <a:bodyPr/>
          <a:lstStyle/>
          <a:p>
            <a:endParaRPr lang="en-US"/>
          </a:p>
        </p:txBody>
      </p:sp>
      <p:sp>
        <p:nvSpPr>
          <p:cNvPr id="7" name="Text 3">
            <a:extLst>
              <a:ext uri="{FF2B5EF4-FFF2-40B4-BE49-F238E27FC236}">
                <a16:creationId xmlns:a16="http://schemas.microsoft.com/office/drawing/2014/main" id="{3DDB77D7-E7D4-1A28-3C5D-3991662ACB93}"/>
              </a:ext>
            </a:extLst>
          </p:cNvPr>
          <p:cNvSpPr/>
          <p:nvPr/>
        </p:nvSpPr>
        <p:spPr>
          <a:xfrm>
            <a:off x="1084910" y="4074310"/>
            <a:ext cx="7181227" cy="232348"/>
          </a:xfrm>
          <a:prstGeom prst="rect">
            <a:avLst/>
          </a:prstGeom>
          <a:noFill/>
          <a:ln/>
        </p:spPr>
        <p:txBody>
          <a:bodyPr wrap="square" lIns="0" tIns="0" rIns="0" bIns="0" rtlCol="0" anchor="t"/>
          <a:lstStyle/>
          <a:p>
            <a:pPr>
              <a:lnSpc>
                <a:spcPts val="1650"/>
              </a:lnSpc>
            </a:pPr>
            <a:r>
              <a:rPr lang="en-US" sz="1100" b="1" dirty="0">
                <a:solidFill>
                  <a:srgbClr val="384653"/>
                </a:solidFill>
                <a:latin typeface="Roboto" pitchFamily="34" charset="0"/>
                <a:ea typeface="Roboto" pitchFamily="34" charset="-122"/>
                <a:cs typeface="Roboto" pitchFamily="34" charset="-120"/>
              </a:rPr>
              <a:t>The Edge of VGG:</a:t>
            </a:r>
            <a:r>
              <a:rPr lang="en-US" sz="1100" dirty="0">
                <a:solidFill>
                  <a:srgbClr val="384653"/>
                </a:solidFill>
                <a:latin typeface="Roboto" pitchFamily="34" charset="0"/>
                <a:ea typeface="Roboto" pitchFamily="34" charset="-122"/>
                <a:cs typeface="Roboto" pitchFamily="34" charset="-120"/>
              </a:rPr>
              <a:t> proved that stacking multiple small filters is more efficient and powerful than single large filters.</a:t>
            </a:r>
          </a:p>
        </p:txBody>
      </p:sp>
    </p:spTree>
    <p:extLst>
      <p:ext uri="{BB962C8B-B14F-4D97-AF65-F5344CB8AC3E}">
        <p14:creationId xmlns:p14="http://schemas.microsoft.com/office/powerpoint/2010/main" val="199626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4D248324-C1CD-6CA5-1FFB-66127CE19D59}"/>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37BA2F0-734A-2347-3DD8-EE4D237C6E32}"/>
              </a:ext>
            </a:extLst>
          </p:cNvPr>
          <p:cNvSpPr/>
          <p:nvPr/>
        </p:nvSpPr>
        <p:spPr>
          <a:xfrm>
            <a:off x="8004748" y="4863229"/>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Google Shape;263;p25">
            <a:extLst>
              <a:ext uri="{FF2B5EF4-FFF2-40B4-BE49-F238E27FC236}">
                <a16:creationId xmlns:a16="http://schemas.microsoft.com/office/drawing/2014/main" id="{978E9BD2-2EF4-5391-3003-2CB148F5B85C}"/>
              </a:ext>
            </a:extLst>
          </p:cNvPr>
          <p:cNvSpPr/>
          <p:nvPr/>
        </p:nvSpPr>
        <p:spPr>
          <a:xfrm>
            <a:off x="263490" y="803715"/>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 name="Google Shape;264;p25">
            <a:extLst>
              <a:ext uri="{FF2B5EF4-FFF2-40B4-BE49-F238E27FC236}">
                <a16:creationId xmlns:a16="http://schemas.microsoft.com/office/drawing/2014/main" id="{A6D567BF-649A-7648-6F99-02E1D06AE96C}"/>
              </a:ext>
            </a:extLst>
          </p:cNvPr>
          <p:cNvSpPr/>
          <p:nvPr/>
        </p:nvSpPr>
        <p:spPr>
          <a:xfrm>
            <a:off x="263490" y="1573215"/>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 name="Google Shape;265;p25">
            <a:extLst>
              <a:ext uri="{FF2B5EF4-FFF2-40B4-BE49-F238E27FC236}">
                <a16:creationId xmlns:a16="http://schemas.microsoft.com/office/drawing/2014/main" id="{EDEBC0ED-3A4B-A186-1A48-D65E6D8E855A}"/>
              </a:ext>
            </a:extLst>
          </p:cNvPr>
          <p:cNvSpPr/>
          <p:nvPr/>
        </p:nvSpPr>
        <p:spPr>
          <a:xfrm>
            <a:off x="263490" y="872086"/>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 name="Google Shape;266;p25">
            <a:extLst>
              <a:ext uri="{FF2B5EF4-FFF2-40B4-BE49-F238E27FC236}">
                <a16:creationId xmlns:a16="http://schemas.microsoft.com/office/drawing/2014/main" id="{AF0129C4-1D33-DDBD-6C1F-993D98551547}"/>
              </a:ext>
            </a:extLst>
          </p:cNvPr>
          <p:cNvSpPr/>
          <p:nvPr/>
        </p:nvSpPr>
        <p:spPr>
          <a:xfrm>
            <a:off x="263490" y="1656857"/>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 name="Google Shape;267;p25">
            <a:extLst>
              <a:ext uri="{FF2B5EF4-FFF2-40B4-BE49-F238E27FC236}">
                <a16:creationId xmlns:a16="http://schemas.microsoft.com/office/drawing/2014/main" id="{0276C16F-CEB0-2ABF-3220-069F303D0FD3}"/>
              </a:ext>
            </a:extLst>
          </p:cNvPr>
          <p:cNvSpPr/>
          <p:nvPr/>
        </p:nvSpPr>
        <p:spPr>
          <a:xfrm>
            <a:off x="263490" y="2441628"/>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 name="Google Shape;273;p25">
            <a:extLst>
              <a:ext uri="{FF2B5EF4-FFF2-40B4-BE49-F238E27FC236}">
                <a16:creationId xmlns:a16="http://schemas.microsoft.com/office/drawing/2014/main" id="{1002E8F0-0659-A3AC-674F-075BB197AE8E}"/>
              </a:ext>
            </a:extLst>
          </p:cNvPr>
          <p:cNvSpPr/>
          <p:nvPr/>
        </p:nvSpPr>
        <p:spPr>
          <a:xfrm>
            <a:off x="263490" y="1647332"/>
            <a:ext cx="86868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 name="Google Shape;274;p25">
            <a:extLst>
              <a:ext uri="{FF2B5EF4-FFF2-40B4-BE49-F238E27FC236}">
                <a16:creationId xmlns:a16="http://schemas.microsoft.com/office/drawing/2014/main" id="{37429FA4-3029-2131-D2F4-C6F63D7DDB73}"/>
              </a:ext>
            </a:extLst>
          </p:cNvPr>
          <p:cNvSpPr/>
          <p:nvPr/>
        </p:nvSpPr>
        <p:spPr>
          <a:xfrm>
            <a:off x="263490" y="2546403"/>
            <a:ext cx="86868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 name="Google Shape;285;p25">
            <a:extLst>
              <a:ext uri="{FF2B5EF4-FFF2-40B4-BE49-F238E27FC236}">
                <a16:creationId xmlns:a16="http://schemas.microsoft.com/office/drawing/2014/main" id="{EC6541A7-BB87-1926-6EB9-7BCF8A3E4D25}"/>
              </a:ext>
            </a:extLst>
          </p:cNvPr>
          <p:cNvSpPr txBox="1"/>
          <p:nvPr/>
        </p:nvSpPr>
        <p:spPr>
          <a:xfrm>
            <a:off x="1427445" y="1014961"/>
            <a:ext cx="9953625" cy="240066"/>
          </a:xfrm>
          <a:prstGeom prst="rect">
            <a:avLst/>
          </a:prstGeom>
          <a:noFill/>
          <a:ln>
            <a:noFill/>
          </a:ln>
        </p:spPr>
        <p:txBody>
          <a:bodyPr spcFirstLastPara="1" wrap="square" lIns="0" tIns="0" rIns="0" bIns="0" anchor="t" anchorCtr="0">
            <a:spAutoFit/>
          </a:bodyPr>
          <a:lstStyle/>
          <a:p>
            <a:pPr lvl="0">
              <a:lnSpc>
                <a:spcPct val="160000"/>
              </a:lnSpc>
            </a:pPr>
            <a:r>
              <a:rPr lang="en-US" sz="975" dirty="0">
                <a:latin typeface="Lato"/>
                <a:ea typeface="Lato"/>
                <a:cs typeface="Lato"/>
                <a:sym typeface="Lato"/>
              </a:rPr>
              <a:t>https://www.geeksforgeeks.org/computer-vision/vgg-net-architecture-explained/</a:t>
            </a:r>
            <a:endParaRPr dirty="0"/>
          </a:p>
        </p:txBody>
      </p:sp>
      <p:sp>
        <p:nvSpPr>
          <p:cNvPr id="63" name="Google Shape;286;p25">
            <a:extLst>
              <a:ext uri="{FF2B5EF4-FFF2-40B4-BE49-F238E27FC236}">
                <a16:creationId xmlns:a16="http://schemas.microsoft.com/office/drawing/2014/main" id="{15965241-C089-21B9-D0BC-38A46C487893}"/>
              </a:ext>
            </a:extLst>
          </p:cNvPr>
          <p:cNvSpPr txBox="1"/>
          <p:nvPr/>
        </p:nvSpPr>
        <p:spPr>
          <a:xfrm>
            <a:off x="1427445" y="1260676"/>
            <a:ext cx="995362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latin typeface="Lato"/>
                <a:ea typeface="Lato"/>
                <a:cs typeface="Lato"/>
                <a:sym typeface="Lato"/>
              </a:rPr>
              <a:t>Source:</a:t>
            </a:r>
            <a:r>
              <a:rPr lang="en-US" sz="1200" b="0" i="0" u="none" strike="noStrike" cap="none" dirty="0">
                <a:solidFill>
                  <a:srgbClr val="94A3B8"/>
                </a:solidFill>
                <a:latin typeface="Lato"/>
                <a:ea typeface="Lato"/>
                <a:cs typeface="Lato"/>
                <a:sym typeface="Lato"/>
              </a:rPr>
              <a:t> </a:t>
            </a:r>
            <a:r>
              <a:rPr lang="en-US" sz="1200" b="0" i="0" u="none" strike="noStrike" cap="none" dirty="0">
                <a:solidFill>
                  <a:srgbClr val="4F46E5"/>
                </a:solidFill>
                <a:latin typeface="Lato"/>
                <a:ea typeface="Lato"/>
                <a:cs typeface="Lato"/>
                <a:sym typeface="Lato"/>
              </a:rPr>
              <a:t>geeksforgeeks.org</a:t>
            </a:r>
            <a:endParaRPr dirty="0"/>
          </a:p>
        </p:txBody>
      </p:sp>
      <p:pic>
        <p:nvPicPr>
          <p:cNvPr id="64" name="Google Shape;287;p25">
            <a:extLst>
              <a:ext uri="{FF2B5EF4-FFF2-40B4-BE49-F238E27FC236}">
                <a16:creationId xmlns:a16="http://schemas.microsoft.com/office/drawing/2014/main" id="{76C9BE71-57F2-9AB1-158E-572C608228B2}"/>
              </a:ext>
            </a:extLst>
          </p:cNvPr>
          <p:cNvPicPr preferRelativeResize="0"/>
          <p:nvPr/>
        </p:nvPicPr>
        <p:blipFill>
          <a:blip r:embed="rId3">
            <a:alphaModFix/>
          </a:blip>
          <a:srcRect/>
          <a:stretch/>
        </p:blipFill>
        <p:spPr>
          <a:xfrm>
            <a:off x="309209" y="1798659"/>
            <a:ext cx="927865" cy="559325"/>
          </a:xfrm>
          <a:prstGeom prst="rect">
            <a:avLst/>
          </a:prstGeom>
          <a:noFill/>
          <a:ln>
            <a:noFill/>
          </a:ln>
        </p:spPr>
      </p:pic>
      <p:sp>
        <p:nvSpPr>
          <p:cNvPr id="65" name="Google Shape;288;p25">
            <a:extLst>
              <a:ext uri="{FF2B5EF4-FFF2-40B4-BE49-F238E27FC236}">
                <a16:creationId xmlns:a16="http://schemas.microsoft.com/office/drawing/2014/main" id="{B5930302-6A33-FF39-B3AA-2E815A273345}"/>
              </a:ext>
            </a:extLst>
          </p:cNvPr>
          <p:cNvSpPr txBox="1"/>
          <p:nvPr/>
        </p:nvSpPr>
        <p:spPr>
          <a:xfrm>
            <a:off x="1427445" y="1753606"/>
            <a:ext cx="7521645" cy="480131"/>
          </a:xfrm>
          <a:prstGeom prst="rect">
            <a:avLst/>
          </a:prstGeom>
          <a:noFill/>
          <a:ln>
            <a:noFill/>
          </a:ln>
        </p:spPr>
        <p:txBody>
          <a:bodyPr spcFirstLastPara="1" wrap="square" lIns="0" tIns="0" rIns="0" bIns="0" anchor="t" anchorCtr="0">
            <a:spAutoFit/>
          </a:bodyPr>
          <a:lstStyle/>
          <a:p>
            <a:pPr lvl="0">
              <a:lnSpc>
                <a:spcPct val="160000"/>
              </a:lnSpc>
            </a:pPr>
            <a:r>
              <a:rPr lang="en-US" sz="975" dirty="0">
                <a:latin typeface="Lato"/>
                <a:ea typeface="Lato"/>
                <a:cs typeface="Lato"/>
                <a:sym typeface="Lato"/>
              </a:rPr>
              <a:t>https://upload.wikimedia.org/wikipedia/commons/1/19/2D_Convolution_Animation.gif?utm_source=commons.wikimedia.org&amp;utm_campaign=index&amp;utm_content=original</a:t>
            </a:r>
            <a:endParaRPr dirty="0"/>
          </a:p>
        </p:txBody>
      </p:sp>
      <p:sp>
        <p:nvSpPr>
          <p:cNvPr id="66" name="Google Shape;289;p25">
            <a:extLst>
              <a:ext uri="{FF2B5EF4-FFF2-40B4-BE49-F238E27FC236}">
                <a16:creationId xmlns:a16="http://schemas.microsoft.com/office/drawing/2014/main" id="{A7B69B15-ACEF-984C-7E5C-7367A70AE9A4}"/>
              </a:ext>
            </a:extLst>
          </p:cNvPr>
          <p:cNvSpPr txBox="1"/>
          <p:nvPr/>
        </p:nvSpPr>
        <p:spPr>
          <a:xfrm>
            <a:off x="1427445" y="2189821"/>
            <a:ext cx="7591425" cy="304807"/>
          </a:xfrm>
          <a:prstGeom prst="rect">
            <a:avLst/>
          </a:prstGeom>
          <a:noFill/>
          <a:ln>
            <a:noFill/>
          </a:ln>
        </p:spPr>
        <p:txBody>
          <a:bodyPr spcFirstLastPara="1" wrap="square" lIns="0" tIns="0" rIns="0" bIns="0" anchor="t" anchorCtr="0">
            <a:spAutoFit/>
          </a:bodyPr>
          <a:lstStyle/>
          <a:p>
            <a:pPr lvl="0">
              <a:lnSpc>
                <a:spcPct val="160000"/>
              </a:lnSpc>
            </a:pPr>
            <a:r>
              <a:rPr lang="en-US" sz="1200" b="0" i="0" u="none" strike="noStrike" cap="none" dirty="0">
                <a:latin typeface="Lato"/>
                <a:ea typeface="Lato"/>
                <a:cs typeface="Lato"/>
                <a:sym typeface="Lato"/>
              </a:rPr>
              <a:t>Source: </a:t>
            </a:r>
            <a:r>
              <a:rPr lang="en-US" sz="1200" dirty="0">
                <a:solidFill>
                  <a:srgbClr val="4F46E5"/>
                </a:solidFill>
                <a:latin typeface="Lato"/>
                <a:ea typeface="Lato"/>
                <a:cs typeface="Lato"/>
                <a:sym typeface="Lato"/>
              </a:rPr>
              <a:t>commons.wikimedia.org</a:t>
            </a:r>
            <a:endParaRPr dirty="0"/>
          </a:p>
        </p:txBody>
      </p:sp>
      <p:sp>
        <p:nvSpPr>
          <p:cNvPr id="68" name="Google Shape;291;p25">
            <a:extLst>
              <a:ext uri="{FF2B5EF4-FFF2-40B4-BE49-F238E27FC236}">
                <a16:creationId xmlns:a16="http://schemas.microsoft.com/office/drawing/2014/main" id="{E929E3BF-572E-A67F-14CF-BE050AE8913F}"/>
              </a:ext>
            </a:extLst>
          </p:cNvPr>
          <p:cNvSpPr txBox="1"/>
          <p:nvPr/>
        </p:nvSpPr>
        <p:spPr>
          <a:xfrm>
            <a:off x="1427445" y="2698802"/>
            <a:ext cx="7522845" cy="2400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dirty="0">
                <a:latin typeface="Lato"/>
                <a:ea typeface="Lato"/>
                <a:cs typeface="Lato"/>
                <a:sym typeface="Lato"/>
              </a:rPr>
              <a:t>https://cs231n.github.io/assets/cnn/maxpool.jpeg</a:t>
            </a:r>
            <a:endParaRPr dirty="0"/>
          </a:p>
        </p:txBody>
      </p:sp>
      <p:sp>
        <p:nvSpPr>
          <p:cNvPr id="69" name="Google Shape;292;p25">
            <a:extLst>
              <a:ext uri="{FF2B5EF4-FFF2-40B4-BE49-F238E27FC236}">
                <a16:creationId xmlns:a16="http://schemas.microsoft.com/office/drawing/2014/main" id="{D08B3049-C3F5-1679-E7E7-3D23DD678C1D}"/>
              </a:ext>
            </a:extLst>
          </p:cNvPr>
          <p:cNvSpPr txBox="1"/>
          <p:nvPr/>
        </p:nvSpPr>
        <p:spPr>
          <a:xfrm>
            <a:off x="1427445" y="2944518"/>
            <a:ext cx="995362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latin typeface="Lato"/>
                <a:ea typeface="Lato"/>
                <a:cs typeface="Lato"/>
                <a:sym typeface="Lato"/>
              </a:rPr>
              <a:t>Source: </a:t>
            </a:r>
            <a:r>
              <a:rPr lang="en-US" sz="1200" b="0" i="0" u="none" strike="noStrike" cap="none" dirty="0">
                <a:solidFill>
                  <a:srgbClr val="4F46E5"/>
                </a:solidFill>
                <a:latin typeface="Lato"/>
                <a:ea typeface="Lato"/>
                <a:cs typeface="Lato"/>
                <a:sym typeface="Lato"/>
              </a:rPr>
              <a:t>cs231n.github.io</a:t>
            </a:r>
            <a:endParaRPr dirty="0"/>
          </a:p>
        </p:txBody>
      </p:sp>
      <p:sp>
        <p:nvSpPr>
          <p:cNvPr id="73" name="Google Shape;296;p25">
            <a:extLst>
              <a:ext uri="{FF2B5EF4-FFF2-40B4-BE49-F238E27FC236}">
                <a16:creationId xmlns:a16="http://schemas.microsoft.com/office/drawing/2014/main" id="{483BF351-D3A4-0DD7-00EC-E3300435AD7A}"/>
              </a:ext>
            </a:extLst>
          </p:cNvPr>
          <p:cNvSpPr txBox="1"/>
          <p:nvPr/>
        </p:nvSpPr>
        <p:spPr>
          <a:xfrm>
            <a:off x="405865" y="392440"/>
            <a:ext cx="1140142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38BDF8"/>
                </a:solidFill>
                <a:latin typeface="Poppins"/>
                <a:ea typeface="Poppins"/>
                <a:cs typeface="Poppins"/>
                <a:sym typeface="Poppins"/>
              </a:rPr>
              <a:t>IMAGE SOURCES</a:t>
            </a:r>
            <a:endParaRPr sz="1400" dirty="0"/>
          </a:p>
        </p:txBody>
      </p:sp>
      <p:sp>
        <p:nvSpPr>
          <p:cNvPr id="74" name="Google Shape;297;p25">
            <a:extLst>
              <a:ext uri="{FF2B5EF4-FFF2-40B4-BE49-F238E27FC236}">
                <a16:creationId xmlns:a16="http://schemas.microsoft.com/office/drawing/2014/main" id="{3265D58C-D91F-9693-C842-C5ED66D818B8}"/>
              </a:ext>
            </a:extLst>
          </p:cNvPr>
          <p:cNvSpPr/>
          <p:nvPr/>
        </p:nvSpPr>
        <p:spPr>
          <a:xfrm>
            <a:off x="263490" y="392440"/>
            <a:ext cx="45719" cy="369332"/>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 name="Google Shape;270;p25">
            <a:extLst>
              <a:ext uri="{FF2B5EF4-FFF2-40B4-BE49-F238E27FC236}">
                <a16:creationId xmlns:a16="http://schemas.microsoft.com/office/drawing/2014/main" id="{BBEF877E-CA76-C6E4-E86A-05367045BE70}"/>
              </a:ext>
            </a:extLst>
          </p:cNvPr>
          <p:cNvSpPr/>
          <p:nvPr/>
        </p:nvSpPr>
        <p:spPr>
          <a:xfrm>
            <a:off x="263490" y="3321499"/>
            <a:ext cx="86868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77" name="Picture 76">
            <a:extLst>
              <a:ext uri="{FF2B5EF4-FFF2-40B4-BE49-F238E27FC236}">
                <a16:creationId xmlns:a16="http://schemas.microsoft.com/office/drawing/2014/main" id="{F550B68A-8BEF-8F20-1E13-A9C3AFA85EBE}"/>
              </a:ext>
            </a:extLst>
          </p:cNvPr>
          <p:cNvPicPr>
            <a:picLocks noChangeAspect="1"/>
          </p:cNvPicPr>
          <p:nvPr/>
        </p:nvPicPr>
        <p:blipFill>
          <a:blip r:embed="rId4"/>
          <a:srcRect t="14603" b="10905"/>
          <a:stretch>
            <a:fillRect/>
          </a:stretch>
        </p:blipFill>
        <p:spPr>
          <a:xfrm>
            <a:off x="286349" y="982400"/>
            <a:ext cx="1079540" cy="575178"/>
          </a:xfrm>
          <a:prstGeom prst="rect">
            <a:avLst/>
          </a:prstGeom>
        </p:spPr>
      </p:pic>
      <p:pic>
        <p:nvPicPr>
          <p:cNvPr id="78" name="Image 1">
            <a:extLst>
              <a:ext uri="{FF2B5EF4-FFF2-40B4-BE49-F238E27FC236}">
                <a16:creationId xmlns:a16="http://schemas.microsoft.com/office/drawing/2014/main" id="{691E0B4D-468C-22C6-F680-6436FAF3B1E4}"/>
              </a:ext>
            </a:extLst>
          </p:cNvPr>
          <p:cNvPicPr>
            <a:picLocks noChangeAspect="1"/>
          </p:cNvPicPr>
          <p:nvPr/>
        </p:nvPicPr>
        <p:blipFill>
          <a:blip r:embed="rId5"/>
          <a:srcRect/>
          <a:stretch/>
        </p:blipFill>
        <p:spPr>
          <a:xfrm>
            <a:off x="263490" y="2711592"/>
            <a:ext cx="1067516" cy="499169"/>
          </a:xfrm>
          <a:prstGeom prst="rect">
            <a:avLst/>
          </a:prstGeom>
        </p:spPr>
      </p:pic>
      <p:sp>
        <p:nvSpPr>
          <p:cNvPr id="79" name="Google Shape;264;p25">
            <a:extLst>
              <a:ext uri="{FF2B5EF4-FFF2-40B4-BE49-F238E27FC236}">
                <a16:creationId xmlns:a16="http://schemas.microsoft.com/office/drawing/2014/main" id="{AAC68D17-10EA-C167-A55F-0FD118170337}"/>
              </a:ext>
            </a:extLst>
          </p:cNvPr>
          <p:cNvSpPr/>
          <p:nvPr/>
        </p:nvSpPr>
        <p:spPr>
          <a:xfrm>
            <a:off x="263490" y="4062822"/>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 name="Google Shape;265;p25">
            <a:extLst>
              <a:ext uri="{FF2B5EF4-FFF2-40B4-BE49-F238E27FC236}">
                <a16:creationId xmlns:a16="http://schemas.microsoft.com/office/drawing/2014/main" id="{2F98A9B8-A8B0-9FEF-A8F1-5811790C4A84}"/>
              </a:ext>
            </a:extLst>
          </p:cNvPr>
          <p:cNvSpPr/>
          <p:nvPr/>
        </p:nvSpPr>
        <p:spPr>
          <a:xfrm>
            <a:off x="263490" y="3361693"/>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 name="Google Shape;266;p25">
            <a:extLst>
              <a:ext uri="{FF2B5EF4-FFF2-40B4-BE49-F238E27FC236}">
                <a16:creationId xmlns:a16="http://schemas.microsoft.com/office/drawing/2014/main" id="{E947E5E3-1E9D-B9FE-1F16-97C607EF9735}"/>
              </a:ext>
            </a:extLst>
          </p:cNvPr>
          <p:cNvSpPr/>
          <p:nvPr/>
        </p:nvSpPr>
        <p:spPr>
          <a:xfrm>
            <a:off x="263490" y="4146464"/>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 name="Google Shape;273;p25">
            <a:extLst>
              <a:ext uri="{FF2B5EF4-FFF2-40B4-BE49-F238E27FC236}">
                <a16:creationId xmlns:a16="http://schemas.microsoft.com/office/drawing/2014/main" id="{4B6A5D8C-EDE2-E9EF-43E0-176D7838274F}"/>
              </a:ext>
            </a:extLst>
          </p:cNvPr>
          <p:cNvSpPr/>
          <p:nvPr/>
        </p:nvSpPr>
        <p:spPr>
          <a:xfrm>
            <a:off x="263490" y="4136939"/>
            <a:ext cx="86868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 name="Google Shape;285;p25">
            <a:extLst>
              <a:ext uri="{FF2B5EF4-FFF2-40B4-BE49-F238E27FC236}">
                <a16:creationId xmlns:a16="http://schemas.microsoft.com/office/drawing/2014/main" id="{1BE508B1-26E0-ACFC-371A-B3CFA65648AF}"/>
              </a:ext>
            </a:extLst>
          </p:cNvPr>
          <p:cNvSpPr txBox="1"/>
          <p:nvPr/>
        </p:nvSpPr>
        <p:spPr>
          <a:xfrm>
            <a:off x="1427445" y="3504568"/>
            <a:ext cx="9953625" cy="240066"/>
          </a:xfrm>
          <a:prstGeom prst="rect">
            <a:avLst/>
          </a:prstGeom>
          <a:noFill/>
          <a:ln>
            <a:noFill/>
          </a:ln>
        </p:spPr>
        <p:txBody>
          <a:bodyPr spcFirstLastPara="1" wrap="square" lIns="0" tIns="0" rIns="0" bIns="0" anchor="t" anchorCtr="0">
            <a:spAutoFit/>
          </a:bodyPr>
          <a:lstStyle/>
          <a:p>
            <a:pPr lvl="0">
              <a:lnSpc>
                <a:spcPct val="160000"/>
              </a:lnSpc>
            </a:pPr>
            <a:r>
              <a:rPr lang="en-US" sz="975" dirty="0">
                <a:latin typeface="Lato"/>
                <a:ea typeface="Lato"/>
                <a:cs typeface="Lato"/>
                <a:sym typeface="Lato"/>
              </a:rPr>
              <a:t>https://lumos.blog/understanding-convolutional-neural-networks-cnns/</a:t>
            </a:r>
            <a:endParaRPr dirty="0"/>
          </a:p>
        </p:txBody>
      </p:sp>
      <p:sp>
        <p:nvSpPr>
          <p:cNvPr id="84" name="Google Shape;286;p25">
            <a:extLst>
              <a:ext uri="{FF2B5EF4-FFF2-40B4-BE49-F238E27FC236}">
                <a16:creationId xmlns:a16="http://schemas.microsoft.com/office/drawing/2014/main" id="{99CC03D3-415E-FA9E-CCBA-1D8D150FE86B}"/>
              </a:ext>
            </a:extLst>
          </p:cNvPr>
          <p:cNvSpPr txBox="1"/>
          <p:nvPr/>
        </p:nvSpPr>
        <p:spPr>
          <a:xfrm>
            <a:off x="1427445" y="3750283"/>
            <a:ext cx="995362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latin typeface="Lato"/>
                <a:ea typeface="Lato"/>
                <a:cs typeface="Lato"/>
                <a:sym typeface="Lato"/>
              </a:rPr>
              <a:t>Source:</a:t>
            </a:r>
            <a:r>
              <a:rPr lang="en-US" sz="1200" b="0" i="0" u="none" strike="noStrike" cap="none" dirty="0">
                <a:solidFill>
                  <a:srgbClr val="94A3B8"/>
                </a:solidFill>
                <a:latin typeface="Lato"/>
                <a:ea typeface="Lato"/>
                <a:cs typeface="Lato"/>
                <a:sym typeface="Lato"/>
              </a:rPr>
              <a:t> </a:t>
            </a:r>
            <a:r>
              <a:rPr lang="en-US" sz="1200" b="0" i="0" u="none" strike="noStrike" cap="none" dirty="0">
                <a:solidFill>
                  <a:srgbClr val="4F46E5"/>
                </a:solidFill>
                <a:latin typeface="Lato"/>
                <a:ea typeface="Lato"/>
                <a:cs typeface="Lato"/>
                <a:sym typeface="Lato"/>
              </a:rPr>
              <a:t>lumos.blog</a:t>
            </a:r>
            <a:endParaRPr dirty="0"/>
          </a:p>
        </p:txBody>
      </p:sp>
      <p:sp>
        <p:nvSpPr>
          <p:cNvPr id="86" name="Google Shape;288;p25">
            <a:extLst>
              <a:ext uri="{FF2B5EF4-FFF2-40B4-BE49-F238E27FC236}">
                <a16:creationId xmlns:a16="http://schemas.microsoft.com/office/drawing/2014/main" id="{DF70CF5D-C769-9BA8-A7B4-15AF195D7321}"/>
              </a:ext>
            </a:extLst>
          </p:cNvPr>
          <p:cNvSpPr txBox="1"/>
          <p:nvPr/>
        </p:nvSpPr>
        <p:spPr>
          <a:xfrm>
            <a:off x="1428645" y="4291014"/>
            <a:ext cx="7521645" cy="240066"/>
          </a:xfrm>
          <a:prstGeom prst="rect">
            <a:avLst/>
          </a:prstGeom>
          <a:noFill/>
          <a:ln>
            <a:noFill/>
          </a:ln>
        </p:spPr>
        <p:txBody>
          <a:bodyPr spcFirstLastPara="1" wrap="square" lIns="0" tIns="0" rIns="0" bIns="0" anchor="t" anchorCtr="0">
            <a:spAutoFit/>
          </a:bodyPr>
          <a:lstStyle/>
          <a:p>
            <a:pPr lvl="0">
              <a:lnSpc>
                <a:spcPct val="160000"/>
              </a:lnSpc>
            </a:pPr>
            <a:r>
              <a:rPr lang="en-US" sz="975" dirty="0">
                <a:latin typeface="Lato"/>
                <a:ea typeface="Lato"/>
                <a:cs typeface="Lato"/>
                <a:sym typeface="Lato"/>
              </a:rPr>
              <a:t>https://miro.medium.com/v2/resize:fit:4800/format:webp/1*nsKxXL6VbGxloOsTNWF8Mg.png</a:t>
            </a:r>
            <a:endParaRPr dirty="0"/>
          </a:p>
        </p:txBody>
      </p:sp>
      <p:sp>
        <p:nvSpPr>
          <p:cNvPr id="87" name="Google Shape;289;p25">
            <a:extLst>
              <a:ext uri="{FF2B5EF4-FFF2-40B4-BE49-F238E27FC236}">
                <a16:creationId xmlns:a16="http://schemas.microsoft.com/office/drawing/2014/main" id="{548B6742-30C8-0667-9F11-66AC9679979B}"/>
              </a:ext>
            </a:extLst>
          </p:cNvPr>
          <p:cNvSpPr txBox="1"/>
          <p:nvPr/>
        </p:nvSpPr>
        <p:spPr>
          <a:xfrm>
            <a:off x="1427444" y="4531080"/>
            <a:ext cx="7591425" cy="304807"/>
          </a:xfrm>
          <a:prstGeom prst="rect">
            <a:avLst/>
          </a:prstGeom>
          <a:noFill/>
          <a:ln>
            <a:noFill/>
          </a:ln>
        </p:spPr>
        <p:txBody>
          <a:bodyPr spcFirstLastPara="1" wrap="square" lIns="0" tIns="0" rIns="0" bIns="0" anchor="t" anchorCtr="0">
            <a:spAutoFit/>
          </a:bodyPr>
          <a:lstStyle/>
          <a:p>
            <a:pPr lvl="0">
              <a:lnSpc>
                <a:spcPct val="160000"/>
              </a:lnSpc>
            </a:pPr>
            <a:r>
              <a:rPr lang="en-US" sz="1200" b="0" i="0" u="none" strike="noStrike" cap="none" dirty="0">
                <a:latin typeface="Lato"/>
                <a:ea typeface="Lato"/>
                <a:cs typeface="Lato"/>
                <a:sym typeface="Lato"/>
              </a:rPr>
              <a:t>Source: </a:t>
            </a:r>
            <a:r>
              <a:rPr lang="en-US" sz="1200" dirty="0">
                <a:solidFill>
                  <a:srgbClr val="4F46E5"/>
                </a:solidFill>
                <a:latin typeface="Lato"/>
                <a:ea typeface="Lato"/>
                <a:cs typeface="Lato"/>
                <a:sym typeface="Lato"/>
              </a:rPr>
              <a:t>miro.medium.com</a:t>
            </a:r>
            <a:endParaRPr dirty="0"/>
          </a:p>
        </p:txBody>
      </p:sp>
      <p:pic>
        <p:nvPicPr>
          <p:cNvPr id="88" name="Picture 87">
            <a:extLst>
              <a:ext uri="{FF2B5EF4-FFF2-40B4-BE49-F238E27FC236}">
                <a16:creationId xmlns:a16="http://schemas.microsoft.com/office/drawing/2014/main" id="{11E79E0C-7544-DBAA-4E20-27D3432A54F7}"/>
              </a:ext>
            </a:extLst>
          </p:cNvPr>
          <p:cNvPicPr>
            <a:picLocks noChangeAspect="1"/>
          </p:cNvPicPr>
          <p:nvPr/>
        </p:nvPicPr>
        <p:blipFill>
          <a:blip r:embed="rId6"/>
          <a:srcRect t="205" b="22699"/>
          <a:stretch>
            <a:fillRect/>
          </a:stretch>
        </p:blipFill>
        <p:spPr>
          <a:xfrm>
            <a:off x="497002" y="3331024"/>
            <a:ext cx="696932" cy="776608"/>
          </a:xfrm>
          <a:prstGeom prst="rect">
            <a:avLst/>
          </a:prstGeom>
        </p:spPr>
      </p:pic>
      <p:pic>
        <p:nvPicPr>
          <p:cNvPr id="91" name="Picture 90">
            <a:extLst>
              <a:ext uri="{FF2B5EF4-FFF2-40B4-BE49-F238E27FC236}">
                <a16:creationId xmlns:a16="http://schemas.microsoft.com/office/drawing/2014/main" id="{EC361DBB-34EC-3B8D-9A33-A2A30D9DD8C5}"/>
              </a:ext>
            </a:extLst>
          </p:cNvPr>
          <p:cNvPicPr>
            <a:picLocks noChangeAspect="1"/>
          </p:cNvPicPr>
          <p:nvPr/>
        </p:nvPicPr>
        <p:blipFill>
          <a:blip r:embed="rId7"/>
          <a:srcRect l="3325" r="27076"/>
          <a:stretch>
            <a:fillRect/>
          </a:stretch>
        </p:blipFill>
        <p:spPr>
          <a:xfrm>
            <a:off x="263490" y="4229341"/>
            <a:ext cx="1102399" cy="714800"/>
          </a:xfrm>
          <a:prstGeom prst="rect">
            <a:avLst/>
          </a:prstGeom>
        </p:spPr>
      </p:pic>
    </p:spTree>
    <p:extLst>
      <p:ext uri="{BB962C8B-B14F-4D97-AF65-F5344CB8AC3E}">
        <p14:creationId xmlns:p14="http://schemas.microsoft.com/office/powerpoint/2010/main" val="1992370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52673D38-EB6B-B886-B84E-F716B7DD3D2B}"/>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C78A6582-66C3-F0AF-207B-87D9A9DF1777}"/>
              </a:ext>
            </a:extLst>
          </p:cNvPr>
          <p:cNvSpPr/>
          <p:nvPr/>
        </p:nvSpPr>
        <p:spPr>
          <a:xfrm>
            <a:off x="8004748" y="4856813"/>
            <a:ext cx="1139252" cy="232348"/>
          </a:xfrm>
          <a:prstGeom prst="rect">
            <a:avLst/>
          </a:prstGeom>
          <a:solidFill>
            <a:srgbClr val="FF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B887FF-7831-5EFC-4E62-0345C3A22793}"/>
              </a:ext>
            </a:extLst>
          </p:cNvPr>
          <p:cNvSpPr/>
          <p:nvPr/>
        </p:nvSpPr>
        <p:spPr>
          <a:xfrm>
            <a:off x="2117058" y="1910030"/>
            <a:ext cx="4909883" cy="1323439"/>
          </a:xfrm>
          <a:prstGeom prst="rect">
            <a:avLst/>
          </a:prstGeom>
          <a:noFill/>
        </p:spPr>
        <p:txBody>
          <a:bodyPr wrap="squar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56772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674</TotalTime>
  <Words>1095</Words>
  <Application>Microsoft Office PowerPoint</Application>
  <PresentationFormat>On-screen Show (16:9)</PresentationFormat>
  <Paragraphs>131</Paragraphs>
  <Slides>15</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Times New Roman</vt:lpstr>
      <vt:lpstr>Alexandria Semi Bold</vt:lpstr>
      <vt:lpstr>Poppins</vt:lpstr>
      <vt:lpstr>Lato</vt:lpstr>
      <vt:lpstr>Calibri</vt:lpstr>
      <vt:lpstr>Arial</vt:lpstr>
      <vt:lpstr>Host Grotesk Medium</vt:lpstr>
      <vt:lpstr>Sora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aya elkholy</cp:lastModifiedBy>
  <cp:revision>17</cp:revision>
  <dcterms:created xsi:type="dcterms:W3CDTF">2026-05-10T20:38:26Z</dcterms:created>
  <dcterms:modified xsi:type="dcterms:W3CDTF">2026-05-13T17:15:45Z</dcterms:modified>
</cp:coreProperties>
</file>